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72" r:id="rId3"/>
    <p:sldId id="271" r:id="rId4"/>
    <p:sldId id="275" r:id="rId5"/>
    <p:sldId id="266" r:id="rId6"/>
    <p:sldId id="267" r:id="rId7"/>
    <p:sldId id="268" r:id="rId8"/>
    <p:sldId id="27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58"/>
  </p:normalViewPr>
  <p:slideViewPr>
    <p:cSldViewPr snapToGrid="0">
      <p:cViewPr varScale="1">
        <p:scale>
          <a:sx n="116" d="100"/>
          <a:sy n="116" d="100"/>
        </p:scale>
        <p:origin x="3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0C994-5101-45CF-BB29-F4CE93484CCF}" type="datetimeFigureOut">
              <a:rPr lang="en-US" smtClean="0"/>
              <a:t>5/13/26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0DC5C9-453A-4224-BB7A-4C00ED892101}" type="slidenum">
              <a:rPr lang="en-US" smtClean="0"/>
              <a:t>‹#›</a:t>
            </a:fld>
            <a:endParaRPr lang="en-US"/>
          </a:p>
        </p:txBody>
      </p:sp>
    </p:spTree>
    <p:extLst>
      <p:ext uri="{BB962C8B-B14F-4D97-AF65-F5344CB8AC3E}">
        <p14:creationId xmlns:p14="http://schemas.microsoft.com/office/powerpoint/2010/main" val="4182501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243A0-4976-3A17-B9E4-E23356585D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0CFC9F-5389-CD00-8E6D-27E70845E8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5F90B0-0419-02B4-CD17-39DC1A1DE851}"/>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5" name="Footer Placeholder 4">
            <a:extLst>
              <a:ext uri="{FF2B5EF4-FFF2-40B4-BE49-F238E27FC236}">
                <a16:creationId xmlns:a16="http://schemas.microsoft.com/office/drawing/2014/main" id="{7946792A-D2DD-08FE-203B-2966017D84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FF3EC-F958-E52F-E892-FFEDC7FA204A}"/>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280390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A00A-E4E7-A4C1-68D3-6CC2F11F88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9C196-F8C3-B510-0B27-A7E4C57D8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C975A3-EF86-0E80-227C-CF1917DD4ACC}"/>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5" name="Footer Placeholder 4">
            <a:extLst>
              <a:ext uri="{FF2B5EF4-FFF2-40B4-BE49-F238E27FC236}">
                <a16:creationId xmlns:a16="http://schemas.microsoft.com/office/drawing/2014/main" id="{0EE42E27-CC83-8F72-6265-3B641375F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3DE05-A5DD-6D79-D6A2-D3D470E6A06B}"/>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1087118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DFB3-F54E-6531-4F4C-FB947414D6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9E5012-78A2-6F4E-9274-AFFF469D72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143878-FDD0-4D46-FA32-C3B3788DF698}"/>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5" name="Footer Placeholder 4">
            <a:extLst>
              <a:ext uri="{FF2B5EF4-FFF2-40B4-BE49-F238E27FC236}">
                <a16:creationId xmlns:a16="http://schemas.microsoft.com/office/drawing/2014/main" id="{D06D6E64-96A3-88CC-4B44-DA607CE62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EA69A-31CD-6907-71EC-CD7FC48A2F41}"/>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2092484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52568-5514-D719-1F38-E7DB7FBBDC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111B0F-D055-5492-D7D9-F73FD9F417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FD7CB6-6866-873E-4E02-50E2CFB943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063F24-2240-76FD-E29B-5C7A3DD4CD71}"/>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6" name="Footer Placeholder 5">
            <a:extLst>
              <a:ext uri="{FF2B5EF4-FFF2-40B4-BE49-F238E27FC236}">
                <a16:creationId xmlns:a16="http://schemas.microsoft.com/office/drawing/2014/main" id="{F28BC71C-A837-809D-FA09-7119042989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0EDC91-53BA-52EA-9249-66301A01ED02}"/>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2301811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86993-D294-8F08-E544-A21BABA124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2FE84-C5E9-1F3B-A6F4-9757EB367F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21DE6D-E86B-F5AF-7934-B23BA22866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357FA7-A5C5-3005-FC78-A6CC2EC9E8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A45F61-49C7-7E87-41ED-02DEBF1A6D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027A95-CFAB-9492-81C2-9AE598AECAA1}"/>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8" name="Footer Placeholder 7">
            <a:extLst>
              <a:ext uri="{FF2B5EF4-FFF2-40B4-BE49-F238E27FC236}">
                <a16:creationId xmlns:a16="http://schemas.microsoft.com/office/drawing/2014/main" id="{3C6B48BA-74A7-FFB8-EF69-F682872FA1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CE4064-36F0-5570-9FA7-4066F3D3A671}"/>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354707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041AC-A0C9-28EE-47D8-2BEE5F19BC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CC14B9-DF06-3170-3741-773ECFB0124F}"/>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4" name="Footer Placeholder 3">
            <a:extLst>
              <a:ext uri="{FF2B5EF4-FFF2-40B4-BE49-F238E27FC236}">
                <a16:creationId xmlns:a16="http://schemas.microsoft.com/office/drawing/2014/main" id="{078613CD-9772-5929-FBCA-CEF6235BE8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1BCDDE-A965-9E87-FAD5-CCC2CA4B7287}"/>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902162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3AD0A0-DB62-63CD-5189-E6609ED84214}"/>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3" name="Footer Placeholder 2">
            <a:extLst>
              <a:ext uri="{FF2B5EF4-FFF2-40B4-BE49-F238E27FC236}">
                <a16:creationId xmlns:a16="http://schemas.microsoft.com/office/drawing/2014/main" id="{643DCF57-123B-C753-46B7-6C57D353A4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83EF8C-B738-D968-B97C-4AB762081613}"/>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398936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D76E-CCB0-A53D-3E0F-F6410F592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C6B70C-15E0-ADA9-43E4-F100446A43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81A6D1-592D-516C-6256-182FF8297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1BCD72-D300-E46E-F808-6C11E2487BF5}"/>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6" name="Footer Placeholder 5">
            <a:extLst>
              <a:ext uri="{FF2B5EF4-FFF2-40B4-BE49-F238E27FC236}">
                <a16:creationId xmlns:a16="http://schemas.microsoft.com/office/drawing/2014/main" id="{EB174EE3-11D2-FF58-BE77-8377E73AAE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E6E4C1-F07E-5D96-1A55-87F7D5461172}"/>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3856677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7992-670E-253B-2BBA-80A1479C05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080C54-2C26-A3FD-3662-638DF4F10B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FE5B91-33B1-4A4B-5637-2377DDF9A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215B74-3100-F0FD-513E-4DAB78FE535F}"/>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6" name="Footer Placeholder 5">
            <a:extLst>
              <a:ext uri="{FF2B5EF4-FFF2-40B4-BE49-F238E27FC236}">
                <a16:creationId xmlns:a16="http://schemas.microsoft.com/office/drawing/2014/main" id="{63B7446C-BFA7-1F53-1265-4F8546B5F6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97D99-DF16-1A02-A26D-0C5471A771C1}"/>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136077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B9BB1-6EC2-BEAC-4FE2-0E97B5D710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BE05B3-3BC9-8C31-B0F8-A6DC008FBA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9E1E0E-9D9B-52D2-9659-440BD76D1F8A}"/>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5" name="Footer Placeholder 4">
            <a:extLst>
              <a:ext uri="{FF2B5EF4-FFF2-40B4-BE49-F238E27FC236}">
                <a16:creationId xmlns:a16="http://schemas.microsoft.com/office/drawing/2014/main" id="{29218165-76EF-4E94-6714-40CF2E6AB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86A55-825D-CBA4-897E-CDFD23683E0A}"/>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304617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4D1D51-451F-434C-8907-59B9FDC347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9B3F1F-844F-58C2-98C1-2069EEEF25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6956-5720-5BE8-E528-4D5CC4510FBB}"/>
              </a:ext>
            </a:extLst>
          </p:cNvPr>
          <p:cNvSpPr>
            <a:spLocks noGrp="1"/>
          </p:cNvSpPr>
          <p:nvPr>
            <p:ph type="dt" sz="half" idx="10"/>
          </p:nvPr>
        </p:nvSpPr>
        <p:spPr/>
        <p:txBody>
          <a:bodyPr/>
          <a:lstStyle/>
          <a:p>
            <a:fld id="{1463F2A4-8455-4A1D-B8D1-E8B858DAC696}" type="datetimeFigureOut">
              <a:rPr lang="en-US" smtClean="0"/>
              <a:t>5/13/26</a:t>
            </a:fld>
            <a:endParaRPr lang="en-US"/>
          </a:p>
        </p:txBody>
      </p:sp>
      <p:sp>
        <p:nvSpPr>
          <p:cNvPr id="5" name="Footer Placeholder 4">
            <a:extLst>
              <a:ext uri="{FF2B5EF4-FFF2-40B4-BE49-F238E27FC236}">
                <a16:creationId xmlns:a16="http://schemas.microsoft.com/office/drawing/2014/main" id="{87AF4580-9FCD-93AC-BAE9-5375EBD29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F2486-0AEE-0C85-A5AE-E8B3B3056AD7}"/>
              </a:ext>
            </a:extLst>
          </p:cNvPr>
          <p:cNvSpPr>
            <a:spLocks noGrp="1"/>
          </p:cNvSpPr>
          <p:nvPr>
            <p:ph type="sldNum" sz="quarter" idx="12"/>
          </p:nvPr>
        </p:nvSpPr>
        <p:spPr/>
        <p:txBody>
          <a:bodyPr/>
          <a:lstStyle/>
          <a:p>
            <a:fld id="{1DCF824E-F19F-40E8-8789-E4B99C78F524}" type="slidenum">
              <a:rPr lang="en-US" smtClean="0"/>
              <a:t>‹#›</a:t>
            </a:fld>
            <a:endParaRPr lang="en-US"/>
          </a:p>
        </p:txBody>
      </p:sp>
    </p:spTree>
    <p:extLst>
      <p:ext uri="{BB962C8B-B14F-4D97-AF65-F5344CB8AC3E}">
        <p14:creationId xmlns:p14="http://schemas.microsoft.com/office/powerpoint/2010/main" val="1052679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Image"/>
          <p:cNvSpPr>
            <a:spLocks noGrp="1"/>
          </p:cNvSpPr>
          <p:nvPr>
            <p:ph type="pic" idx="21"/>
          </p:nvPr>
        </p:nvSpPr>
        <p:spPr>
          <a:xfrm>
            <a:off x="-215900" y="-2019300"/>
            <a:ext cx="14732000" cy="9017000"/>
          </a:xfrm>
          <a:prstGeom prst="rect">
            <a:avLst/>
          </a:prstGeom>
        </p:spPr>
        <p:txBody>
          <a:bodyPr lIns="91439" tIns="45719" rIns="91439" bIns="45719" numCol="1" spcCol="38100">
            <a:noAutofit/>
          </a:bodyPr>
          <a:lstStyle/>
          <a:p>
            <a:endParaRPr/>
          </a:p>
        </p:txBody>
      </p:sp>
      <p:sp>
        <p:nvSpPr>
          <p:cNvPr id="22" name="Title Text"/>
          <p:cNvSpPr txBox="1">
            <a:spLocks noGrp="1"/>
          </p:cNvSpPr>
          <p:nvPr>
            <p:ph type="title"/>
          </p:nvPr>
        </p:nvSpPr>
        <p:spPr>
          <a:xfrm>
            <a:off x="603250" y="3562350"/>
            <a:ext cx="10985500" cy="2324100"/>
          </a:xfrm>
          <a:prstGeom prst="rect">
            <a:avLst/>
          </a:prstGeom>
        </p:spPr>
        <p:txBody>
          <a:bodyPr anchor="b"/>
          <a:lstStyle>
            <a:lvl1pPr>
              <a:defRPr sz="5800" spc="-116"/>
            </a:lvl1pPr>
          </a:lstStyle>
          <a:p>
            <a:r>
              <a:t>Title Text</a:t>
            </a:r>
          </a:p>
        </p:txBody>
      </p:sp>
      <p:sp>
        <p:nvSpPr>
          <p:cNvPr id="23" name="Body Level One…"/>
          <p:cNvSpPr txBox="1">
            <a:spLocks noGrp="1"/>
          </p:cNvSpPr>
          <p:nvPr>
            <p:ph type="body" sz="quarter" idx="1"/>
          </p:nvPr>
        </p:nvSpPr>
        <p:spPr>
          <a:xfrm>
            <a:off x="603845" y="553069"/>
            <a:ext cx="10984311" cy="318490"/>
          </a:xfrm>
          <a:prstGeom prst="rect">
            <a:avLst/>
          </a:prstGeom>
        </p:spPr>
        <p:txBody>
          <a:bodyPr lIns="45718" tIns="45718" rIns="45718" bIns="45718" numCol="1" spcCol="38100"/>
          <a:lstStyle>
            <a:lvl1pPr marL="0" indent="0" defTabSz="412750">
              <a:lnSpc>
                <a:spcPct val="100000"/>
              </a:lnSpc>
              <a:spcBef>
                <a:spcPts val="0"/>
              </a:spcBef>
              <a:buSzTx/>
              <a:buNone/>
              <a:defRPr sz="1800" b="1"/>
            </a:lvl1pPr>
            <a:lvl2pPr marL="533400" indent="-228600" defTabSz="412750">
              <a:lnSpc>
                <a:spcPct val="100000"/>
              </a:lnSpc>
              <a:spcBef>
                <a:spcPts val="0"/>
              </a:spcBef>
              <a:defRPr sz="1800" b="1"/>
            </a:lvl2pPr>
            <a:lvl3pPr marL="838200" indent="-228600" defTabSz="412750">
              <a:lnSpc>
                <a:spcPct val="100000"/>
              </a:lnSpc>
              <a:spcBef>
                <a:spcPts val="0"/>
              </a:spcBef>
              <a:defRPr sz="1800" b="1"/>
            </a:lvl3pPr>
            <a:lvl4pPr marL="1143000" indent="-228600" defTabSz="412750">
              <a:lnSpc>
                <a:spcPct val="100000"/>
              </a:lnSpc>
              <a:spcBef>
                <a:spcPts val="0"/>
              </a:spcBef>
              <a:defRPr sz="1800" b="1"/>
            </a:lvl4pPr>
            <a:lvl5pPr marL="1447800" indent="-228600" defTabSz="412750">
              <a:lnSpc>
                <a:spcPct val="100000"/>
              </a:lnSpc>
              <a:spcBef>
                <a:spcPts val="0"/>
              </a:spcBef>
              <a:defRPr sz="1800" b="1"/>
            </a:lvl5pPr>
          </a:lstStyle>
          <a:p>
            <a:r>
              <a:t>Body Level One</a:t>
            </a:r>
          </a:p>
          <a:p>
            <a:pPr lvl="1"/>
            <a:r>
              <a:t>Body Level Two</a:t>
            </a:r>
          </a:p>
          <a:p>
            <a:pPr lvl="2"/>
            <a:r>
              <a:t>Body Level Three</a:t>
            </a:r>
          </a:p>
          <a:p>
            <a:pPr lvl="3"/>
            <a:r>
              <a:t>Body Level Four</a:t>
            </a:r>
          </a:p>
          <a:p>
            <a:pPr lvl="4"/>
            <a:r>
              <a:t>Body Level Five</a:t>
            </a:r>
          </a:p>
        </p:txBody>
      </p:sp>
      <p:sp>
        <p:nvSpPr>
          <p:cNvPr id="24" name="Rectangle"/>
          <p:cNvSpPr txBox="1">
            <a:spLocks noGrp="1"/>
          </p:cNvSpPr>
          <p:nvPr>
            <p:ph type="body" sz="quarter" idx="22"/>
          </p:nvPr>
        </p:nvSpPr>
        <p:spPr>
          <a:xfrm>
            <a:off x="603250" y="5804955"/>
            <a:ext cx="10985500" cy="572345"/>
          </a:xfrm>
          <a:prstGeom prst="rect">
            <a:avLst/>
          </a:prstGeom>
        </p:spPr>
        <p:txBody>
          <a:bodyPr numCol="1" spcCol="38100"/>
          <a:lstStyle>
            <a:lvl1pPr marL="0" indent="0" defTabSz="412750">
              <a:lnSpc>
                <a:spcPct val="100000"/>
              </a:lnSpc>
              <a:spcBef>
                <a:spcPts val="0"/>
              </a:spcBef>
              <a:buSzTx/>
              <a:buNone/>
              <a:defRPr sz="5500" b="1"/>
            </a:lvl1pPr>
          </a:lstStyle>
          <a:p>
            <a:pPr marL="0" indent="0" defTabSz="825500">
              <a:lnSpc>
                <a:spcPct val="100000"/>
              </a:lnSpc>
              <a:spcBef>
                <a:spcPts val="0"/>
              </a:spcBef>
              <a:buSzTx/>
              <a:buNone/>
              <a:defRPr sz="5500" b="1"/>
            </a:pPr>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3600743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Image"/>
          <p:cNvSpPr>
            <a:spLocks noGrp="1"/>
          </p:cNvSpPr>
          <p:nvPr>
            <p:ph type="pic" idx="21"/>
          </p:nvPr>
        </p:nvSpPr>
        <p:spPr>
          <a:xfrm>
            <a:off x="-755650" y="-1860550"/>
            <a:ext cx="14255750" cy="9515121"/>
          </a:xfrm>
          <a:prstGeom prst="rect">
            <a:avLst/>
          </a:prstGeom>
        </p:spPr>
        <p:txBody>
          <a:bodyPr lIns="91439" tIns="45719" rIns="91439" bIns="45719" numCol="1" spcCol="38100">
            <a:noAutofit/>
          </a:bodyPr>
          <a:lstStyle/>
          <a:p>
            <a:endParaRPr/>
          </a:p>
        </p:txBody>
      </p:sp>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2697382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Title Text"/>
          <p:cNvSpPr txBox="1">
            <a:spLocks noGrp="1"/>
          </p:cNvSpPr>
          <p:nvPr>
            <p:ph type="title"/>
          </p:nvPr>
        </p:nvSpPr>
        <p:spPr>
          <a:xfrm>
            <a:off x="603250" y="476250"/>
            <a:ext cx="4889500" cy="717550"/>
          </a:xfrm>
          <a:prstGeom prst="rect">
            <a:avLst/>
          </a:prstGeom>
        </p:spPr>
        <p:txBody>
          <a:bodyPr/>
          <a:lstStyle/>
          <a:p>
            <a:r>
              <a:t>Title Text</a:t>
            </a:r>
          </a:p>
        </p:txBody>
      </p:sp>
      <p:sp>
        <p:nvSpPr>
          <p:cNvPr id="61" name="Body Level One…"/>
          <p:cNvSpPr txBox="1">
            <a:spLocks noGrp="1"/>
          </p:cNvSpPr>
          <p:nvPr>
            <p:ph type="body" sz="quarter" idx="1"/>
          </p:nvPr>
        </p:nvSpPr>
        <p:spPr>
          <a:xfrm>
            <a:off x="603250" y="1122981"/>
            <a:ext cx="4889500" cy="467391"/>
          </a:xfrm>
          <a:prstGeom prst="rect">
            <a:avLst/>
          </a:prstGeom>
        </p:spPr>
        <p:txBody>
          <a:bodyPr lIns="45718" tIns="45718" rIns="45718" bIns="45718" numCol="1" spcCol="38100"/>
          <a:lstStyle>
            <a:lvl1pPr marL="0" indent="0" defTabSz="412750">
              <a:lnSpc>
                <a:spcPct val="100000"/>
              </a:lnSpc>
              <a:spcBef>
                <a:spcPts val="0"/>
              </a:spcBef>
              <a:buSzTx/>
              <a:buNone/>
              <a:defRPr sz="2750" b="1"/>
            </a:lvl1pPr>
            <a:lvl2pPr marL="654050" indent="-349250" defTabSz="412750">
              <a:lnSpc>
                <a:spcPct val="100000"/>
              </a:lnSpc>
              <a:spcBef>
                <a:spcPts val="0"/>
              </a:spcBef>
              <a:defRPr sz="2750" b="1"/>
            </a:lvl2pPr>
            <a:lvl3pPr marL="958850" indent="-349250" defTabSz="412750">
              <a:lnSpc>
                <a:spcPct val="100000"/>
              </a:lnSpc>
              <a:spcBef>
                <a:spcPts val="0"/>
              </a:spcBef>
              <a:defRPr sz="2750" b="1"/>
            </a:lvl3pPr>
            <a:lvl4pPr marL="1263650" indent="-349250" defTabSz="412750">
              <a:lnSpc>
                <a:spcPct val="100000"/>
              </a:lnSpc>
              <a:spcBef>
                <a:spcPts val="0"/>
              </a:spcBef>
              <a:defRPr sz="2750" b="1"/>
            </a:lvl4pPr>
            <a:lvl5pPr marL="1568450" indent="-349250" defTabSz="412750">
              <a:lnSpc>
                <a:spcPct val="100000"/>
              </a:lnSpc>
              <a:spcBef>
                <a:spcPts val="0"/>
              </a:spcBef>
              <a:defRPr sz="2750" b="1"/>
            </a:lvl5pPr>
          </a:lstStyle>
          <a:p>
            <a:r>
              <a:t>Body Level One</a:t>
            </a:r>
          </a:p>
          <a:p>
            <a:pPr lvl="1"/>
            <a:r>
              <a:t>Body Level Two</a:t>
            </a:r>
          </a:p>
          <a:p>
            <a:pPr lvl="2"/>
            <a:r>
              <a:t>Body Level Three</a:t>
            </a:r>
          </a:p>
          <a:p>
            <a:pPr lvl="3"/>
            <a:r>
              <a:t>Body Level Four</a:t>
            </a:r>
          </a:p>
          <a:p>
            <a:pPr lvl="4"/>
            <a:r>
              <a:t>Body Level Five</a:t>
            </a:r>
          </a:p>
        </p:txBody>
      </p:sp>
      <p:sp>
        <p:nvSpPr>
          <p:cNvPr id="62" name="Rectangle"/>
          <p:cNvSpPr txBox="1">
            <a:spLocks noGrp="1"/>
          </p:cNvSpPr>
          <p:nvPr>
            <p:ph type="body" sz="half" idx="21"/>
          </p:nvPr>
        </p:nvSpPr>
        <p:spPr>
          <a:xfrm>
            <a:off x="603250" y="2124252"/>
            <a:ext cx="4889500" cy="4128007"/>
          </a:xfrm>
          <a:prstGeom prst="rect">
            <a:avLst/>
          </a:prstGeom>
        </p:spPr>
        <p:txBody>
          <a:bodyPr numCol="1" spcCol="38100"/>
          <a:lstStyle/>
          <a:p>
            <a:endParaRPr/>
          </a:p>
        </p:txBody>
      </p:sp>
      <p:sp>
        <p:nvSpPr>
          <p:cNvPr id="63" name="Image"/>
          <p:cNvSpPr>
            <a:spLocks noGrp="1"/>
          </p:cNvSpPr>
          <p:nvPr>
            <p:ph type="pic" idx="22"/>
          </p:nvPr>
        </p:nvSpPr>
        <p:spPr>
          <a:xfrm>
            <a:off x="3190100" y="631924"/>
            <a:ext cx="11264901" cy="5596736"/>
          </a:xfrm>
          <a:prstGeom prst="rect">
            <a:avLst/>
          </a:prstGeom>
        </p:spPr>
        <p:txBody>
          <a:bodyPr lIns="91439" tIns="45719" rIns="91439" bIns="45719" numCol="1" spcCol="38100">
            <a:noAutofit/>
          </a:bodyPr>
          <a:lstStyle/>
          <a:p>
            <a:endParaRP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2588398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Title Text"/>
          <p:cNvSpPr txBox="1">
            <a:spLocks noGrp="1"/>
          </p:cNvSpPr>
          <p:nvPr>
            <p:ph type="title"/>
          </p:nvPr>
        </p:nvSpPr>
        <p:spPr>
          <a:xfrm>
            <a:off x="603250" y="476250"/>
            <a:ext cx="10985500" cy="716582"/>
          </a:xfrm>
          <a:prstGeom prst="rect">
            <a:avLst/>
          </a:prstGeom>
        </p:spPr>
        <p:txBody>
          <a:bodyPr/>
          <a:lstStyle/>
          <a:p>
            <a:r>
              <a:t>Title Text</a:t>
            </a:r>
          </a:p>
        </p:txBody>
      </p:sp>
      <p:sp>
        <p:nvSpPr>
          <p:cNvPr id="43" name="Body Level One…"/>
          <p:cNvSpPr txBox="1">
            <a:spLocks noGrp="1"/>
          </p:cNvSpPr>
          <p:nvPr>
            <p:ph type="body" sz="quarter" idx="1"/>
          </p:nvPr>
        </p:nvSpPr>
        <p:spPr>
          <a:xfrm>
            <a:off x="603250" y="1122981"/>
            <a:ext cx="10985500" cy="467391"/>
          </a:xfrm>
          <a:prstGeom prst="rect">
            <a:avLst/>
          </a:prstGeom>
        </p:spPr>
        <p:txBody>
          <a:bodyPr lIns="45718" tIns="45718" rIns="45718" bIns="45718" numCol="1" spcCol="38100"/>
          <a:lstStyle>
            <a:lvl1pPr marL="0" indent="0" defTabSz="412750">
              <a:lnSpc>
                <a:spcPct val="100000"/>
              </a:lnSpc>
              <a:spcBef>
                <a:spcPts val="0"/>
              </a:spcBef>
              <a:buSzTx/>
              <a:buNone/>
              <a:defRPr sz="2750" b="1"/>
            </a:lvl1pPr>
            <a:lvl2pPr marL="654050" indent="-349250" defTabSz="412750">
              <a:lnSpc>
                <a:spcPct val="100000"/>
              </a:lnSpc>
              <a:spcBef>
                <a:spcPts val="0"/>
              </a:spcBef>
              <a:defRPr sz="2750" b="1"/>
            </a:lvl2pPr>
            <a:lvl3pPr marL="958850" indent="-349250" defTabSz="412750">
              <a:lnSpc>
                <a:spcPct val="100000"/>
              </a:lnSpc>
              <a:spcBef>
                <a:spcPts val="0"/>
              </a:spcBef>
              <a:defRPr sz="2750" b="1"/>
            </a:lvl3pPr>
            <a:lvl4pPr marL="1263650" indent="-349250" defTabSz="412750">
              <a:lnSpc>
                <a:spcPct val="100000"/>
              </a:lnSpc>
              <a:spcBef>
                <a:spcPts val="0"/>
              </a:spcBef>
              <a:defRPr sz="2750" b="1"/>
            </a:lvl4pPr>
            <a:lvl5pPr marL="1568450" indent="-349250" defTabSz="412750">
              <a:lnSpc>
                <a:spcPct val="100000"/>
              </a:lnSpc>
              <a:spcBef>
                <a:spcPts val="0"/>
              </a:spcBef>
              <a:defRPr sz="2750" b="1"/>
            </a:lvl5pPr>
          </a:lstStyle>
          <a:p>
            <a:r>
              <a:t>Body Level One</a:t>
            </a:r>
          </a:p>
          <a:p>
            <a:pPr lvl="1"/>
            <a:r>
              <a:t>Body Level Two</a:t>
            </a:r>
          </a:p>
          <a:p>
            <a:pPr lvl="2"/>
            <a:r>
              <a:t>Body Level Three</a:t>
            </a:r>
          </a:p>
          <a:p>
            <a:pPr lvl="3"/>
            <a:r>
              <a:t>Body Level Four</a:t>
            </a:r>
          </a:p>
          <a:p>
            <a:pPr lvl="4"/>
            <a:r>
              <a:t>Body Level Five</a:t>
            </a:r>
          </a:p>
        </p:txBody>
      </p:sp>
      <p:sp>
        <p:nvSpPr>
          <p:cNvPr id="44" name="Rectangle"/>
          <p:cNvSpPr txBox="1">
            <a:spLocks noGrp="1"/>
          </p:cNvSpPr>
          <p:nvPr>
            <p:ph type="body" idx="21"/>
          </p:nvPr>
        </p:nvSpPr>
        <p:spPr>
          <a:prstGeom prst="rect">
            <a:avLst/>
          </a:prstGeom>
        </p:spPr>
        <p:txBody>
          <a:bodyPr numCol="1" spcCol="38100"/>
          <a:lstStyle/>
          <a:p>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06789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F0A2A5-2C29-E42E-92D2-6682A3BA20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2A6FA0-5C59-124E-2BA3-2BBB7C4B9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426B9-A615-104B-2595-5EA9B5DA4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63F2A4-8455-4A1D-B8D1-E8B858DAC696}" type="datetimeFigureOut">
              <a:rPr lang="en-US" smtClean="0"/>
              <a:t>5/13/26</a:t>
            </a:fld>
            <a:endParaRPr lang="en-US"/>
          </a:p>
        </p:txBody>
      </p:sp>
      <p:sp>
        <p:nvSpPr>
          <p:cNvPr id="5" name="Footer Placeholder 4">
            <a:extLst>
              <a:ext uri="{FF2B5EF4-FFF2-40B4-BE49-F238E27FC236}">
                <a16:creationId xmlns:a16="http://schemas.microsoft.com/office/drawing/2014/main" id="{5DCEE531-B039-AAB6-90FF-1016393ABF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8C5BE36-C5F7-B077-34EF-35CA36B0B8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CF824E-F19F-40E8-8789-E4B99C78F524}" type="slidenum">
              <a:rPr lang="en-US" smtClean="0"/>
              <a:t>‹#›</a:t>
            </a:fld>
            <a:endParaRPr lang="en-US"/>
          </a:p>
        </p:txBody>
      </p:sp>
    </p:spTree>
    <p:extLst>
      <p:ext uri="{BB962C8B-B14F-4D97-AF65-F5344CB8AC3E}">
        <p14:creationId xmlns:p14="http://schemas.microsoft.com/office/powerpoint/2010/main" val="4050157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9F4DE7BF-FEBF-D96B-6F56-EDA7305DAE84}"/>
              </a:ext>
            </a:extLst>
          </p:cNvPr>
          <p:cNvPicPr>
            <a:picLocks noChangeAspect="1"/>
          </p:cNvPicPr>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955381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3D4D3-EC78-5350-12F6-8C18DE3087B8}"/>
            </a:ext>
          </a:extLst>
        </p:cNvPr>
        <p:cNvGrpSpPr/>
        <p:nvPr/>
      </p:nvGrpSpPr>
      <p:grpSpPr>
        <a:xfrm>
          <a:off x="0" y="0"/>
          <a:ext cx="0" cy="0"/>
          <a:chOff x="0" y="0"/>
          <a:chExt cx="0" cy="0"/>
        </a:xfrm>
      </p:grpSpPr>
      <p:pic>
        <p:nvPicPr>
          <p:cNvPr id="194" name="IMG_8200.heic" descr="IMG_8200.heic">
            <a:extLst>
              <a:ext uri="{FF2B5EF4-FFF2-40B4-BE49-F238E27FC236}">
                <a16:creationId xmlns:a16="http://schemas.microsoft.com/office/drawing/2014/main" id="{78FA0A37-F65E-B302-7042-043E819DEC82}"/>
              </a:ext>
            </a:extLst>
          </p:cNvPr>
          <p:cNvPicPr>
            <a:picLocks noGrp="1" noChangeAspect="1"/>
          </p:cNvPicPr>
          <p:nvPr>
            <p:ph type="pic" idx="21"/>
          </p:nvPr>
        </p:nvPicPr>
        <p:blipFill>
          <a:blip r:embed="rId2"/>
          <a:srcRect t="3" b="3"/>
          <a:stretch>
            <a:fillRect/>
          </a:stretch>
        </p:blipFill>
        <p:spPr>
          <a:xfrm>
            <a:off x="0" y="-1"/>
            <a:ext cx="12192000" cy="6858001"/>
          </a:xfrm>
          <a:prstGeom prst="rect">
            <a:avLst/>
          </a:prstGeom>
        </p:spPr>
      </p:pic>
      <p:sp>
        <p:nvSpPr>
          <p:cNvPr id="195" name="Featured Fitness and Activities- meditation/ breath work, yoga, excursions to Buddhist temples, personal lessons on Buddhist philosophy, visits to the elephant sanctuary, visits to locals markets…">
            <a:extLst>
              <a:ext uri="{FF2B5EF4-FFF2-40B4-BE49-F238E27FC236}">
                <a16:creationId xmlns:a16="http://schemas.microsoft.com/office/drawing/2014/main" id="{74398594-111F-AD7A-6C2C-2D31F8645844}"/>
              </a:ext>
            </a:extLst>
          </p:cNvPr>
          <p:cNvSpPr txBox="1">
            <a:spLocks noGrp="1"/>
          </p:cNvSpPr>
          <p:nvPr>
            <p:ph type="body" idx="1"/>
          </p:nvPr>
        </p:nvSpPr>
        <p:spPr>
          <a:xfrm>
            <a:off x="603250" y="1178818"/>
            <a:ext cx="10985500" cy="4250204"/>
          </a:xfrm>
          <a:prstGeom prst="rect">
            <a:avLst/>
          </a:prstGeom>
          <a:solidFill>
            <a:srgbClr val="FFC5AB">
              <a:alpha val="89542"/>
            </a:srgbClr>
          </a:solidFill>
        </p:spPr>
        <p:txBody>
          <a:bodyPr vert="horz" lIns="25400" tIns="25400" rIns="25400" bIns="25400" numCol="1" spcCol="38100" rtlCol="0">
            <a:normAutofit fontScale="55000" lnSpcReduction="20000"/>
          </a:bodyPr>
          <a:lstStyle/>
          <a:p>
            <a:pPr defTabSz="226314">
              <a:defRPr sz="4900">
                <a:solidFill>
                  <a:srgbClr val="000000"/>
                </a:solidFill>
              </a:defRPr>
            </a:pPr>
            <a:r>
              <a:rPr dirty="0"/>
              <a:t>Featured Fitness and Activities</a:t>
            </a:r>
            <a:r>
              <a:rPr b="0" dirty="0"/>
              <a:t>- meditation/ breath work, yoga, excursions to Buddhist temples, personal lessons on Buddhist philosophy, </a:t>
            </a:r>
            <a:r>
              <a:rPr lang="en-US" b="0" dirty="0"/>
              <a:t>mindfulness exercises</a:t>
            </a:r>
            <a:endParaRPr b="0" dirty="0"/>
          </a:p>
          <a:p>
            <a:pPr defTabSz="226314">
              <a:defRPr sz="4900" b="0">
                <a:solidFill>
                  <a:srgbClr val="000000"/>
                </a:solidFill>
              </a:defRPr>
            </a:pPr>
            <a:endParaRPr b="0" dirty="0"/>
          </a:p>
          <a:p>
            <a:pPr defTabSz="226314">
              <a:defRPr sz="4900">
                <a:solidFill>
                  <a:srgbClr val="000000"/>
                </a:solidFill>
              </a:defRPr>
            </a:pPr>
            <a:r>
              <a:rPr dirty="0"/>
              <a:t>Featured Treatments and Medical</a:t>
            </a:r>
            <a:r>
              <a:rPr b="0" dirty="0"/>
              <a:t>- Consultation with a traditional Thai doctor, Thai massage, Thai poultice massage, acupuncture, and herbal/ tea medicine</a:t>
            </a:r>
          </a:p>
          <a:p>
            <a:pPr defTabSz="226314">
              <a:defRPr sz="4900" b="0">
                <a:solidFill>
                  <a:srgbClr val="000000"/>
                </a:solidFill>
              </a:defRPr>
            </a:pPr>
            <a:endParaRPr b="0" dirty="0"/>
          </a:p>
          <a:p>
            <a:pPr defTabSz="226314">
              <a:defRPr sz="4900">
                <a:solidFill>
                  <a:srgbClr val="000000"/>
                </a:solidFill>
              </a:defRPr>
            </a:pPr>
            <a:r>
              <a:rPr dirty="0"/>
              <a:t>Featured F&amp;B- </a:t>
            </a:r>
            <a:r>
              <a:rPr b="0" dirty="0"/>
              <a:t>Healthy, </a:t>
            </a:r>
            <a:r>
              <a:rPr b="0" dirty="0" err="1"/>
              <a:t>Trivananda</a:t>
            </a:r>
            <a:r>
              <a:rPr b="0" dirty="0"/>
              <a:t> grown/ farm to table, Thai cuisine.</a:t>
            </a:r>
          </a:p>
          <a:p>
            <a:pPr defTabSz="226314">
              <a:defRPr sz="4900" b="0">
                <a:solidFill>
                  <a:srgbClr val="000000"/>
                </a:solidFill>
              </a:defRPr>
            </a:pPr>
            <a:r>
              <a:rPr dirty="0"/>
              <a:t>Thai cooking classes and the art of food as medicine from the perspective of traditional Thai food, Thai herbs and teas</a:t>
            </a:r>
          </a:p>
        </p:txBody>
      </p:sp>
    </p:spTree>
    <p:extLst>
      <p:ext uri="{BB962C8B-B14F-4D97-AF65-F5344CB8AC3E}">
        <p14:creationId xmlns:p14="http://schemas.microsoft.com/office/powerpoint/2010/main" val="302076047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descr="Temple and plants on the river">
            <a:extLst>
              <a:ext uri="{FF2B5EF4-FFF2-40B4-BE49-F238E27FC236}">
                <a16:creationId xmlns:a16="http://schemas.microsoft.com/office/drawing/2014/main" id="{119ECA56-3CF5-43F5-0A1D-16C758DB279A}"/>
              </a:ext>
            </a:extLst>
          </p:cNvPr>
          <p:cNvPicPr>
            <a:picLocks noGrp="1" noChangeAspect="1"/>
          </p:cNvPicPr>
          <p:nvPr>
            <p:ph type="pic" idx="21"/>
          </p:nvPr>
        </p:nvPicPr>
        <p:blipFill>
          <a:blip r:embed="rId2">
            <a:extLst>
              <a:ext uri="{28A0092B-C50C-407E-A947-70E740481C1C}">
                <a14:useLocalDpi xmlns:a14="http://schemas.microsoft.com/office/drawing/2010/main" val="0"/>
              </a:ext>
            </a:extLst>
          </a:blip>
          <a:stretch>
            <a:fillRect/>
          </a:stretch>
        </p:blipFill>
        <p:spPr>
          <a:xfrm>
            <a:off x="0" y="-228600"/>
            <a:ext cx="12192000" cy="7315200"/>
          </a:xfrm>
        </p:spPr>
      </p:pic>
      <p:sp>
        <p:nvSpPr>
          <p:cNvPr id="5" name="Rectangle 4">
            <a:extLst>
              <a:ext uri="{FF2B5EF4-FFF2-40B4-BE49-F238E27FC236}">
                <a16:creationId xmlns:a16="http://schemas.microsoft.com/office/drawing/2014/main" id="{34BDB9CA-FC16-3E7C-B7E2-D8413FFEFFCC}"/>
              </a:ext>
            </a:extLst>
          </p:cNvPr>
          <p:cNvSpPr/>
          <p:nvPr/>
        </p:nvSpPr>
        <p:spPr>
          <a:xfrm>
            <a:off x="5008881" y="-105300"/>
            <a:ext cx="6691962" cy="7068602"/>
          </a:xfrm>
          <a:prstGeom prst="rect">
            <a:avLst/>
          </a:prstGeom>
          <a:solidFill>
            <a:schemeClr val="tx1">
              <a:alpha val="54902"/>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a:r>
              <a:rPr lang="en-US" sz="2400" dirty="0">
                <a:solidFill>
                  <a:schemeClr val="bg1"/>
                </a:solidFill>
              </a:rPr>
              <a:t>Daily schedule:</a:t>
            </a:r>
          </a:p>
          <a:p>
            <a:pPr algn="ctr"/>
            <a:endParaRPr lang="en-US" sz="2400" dirty="0">
              <a:solidFill>
                <a:schemeClr val="bg1"/>
              </a:solidFill>
            </a:endParaRPr>
          </a:p>
          <a:p>
            <a:pPr algn="ctr"/>
            <a:r>
              <a:rPr lang="en-US" sz="2400" dirty="0">
                <a:solidFill>
                  <a:schemeClr val="bg1"/>
                </a:solidFill>
              </a:rPr>
              <a:t>7am-8am: Meditation</a:t>
            </a:r>
          </a:p>
          <a:p>
            <a:pPr algn="ctr"/>
            <a:endParaRPr lang="en-US" sz="2400" dirty="0">
              <a:solidFill>
                <a:schemeClr val="bg1"/>
              </a:solidFill>
            </a:endParaRPr>
          </a:p>
          <a:p>
            <a:pPr algn="ctr"/>
            <a:r>
              <a:rPr lang="en-US" sz="2400" dirty="0">
                <a:solidFill>
                  <a:schemeClr val="bg1"/>
                </a:solidFill>
              </a:rPr>
              <a:t>8:30am: Light breakfast (optional)</a:t>
            </a:r>
          </a:p>
          <a:p>
            <a:pPr algn="ctr"/>
            <a:endParaRPr lang="en-US" sz="2400" dirty="0">
              <a:solidFill>
                <a:schemeClr val="bg1"/>
              </a:solidFill>
            </a:endParaRPr>
          </a:p>
          <a:p>
            <a:pPr algn="ctr"/>
            <a:r>
              <a:rPr lang="en-US" sz="2400" dirty="0">
                <a:solidFill>
                  <a:schemeClr val="bg1"/>
                </a:solidFill>
              </a:rPr>
              <a:t>10am-12am: Visit to local Buddhist temple/ give offerings/ meditation/ spiritual talk</a:t>
            </a:r>
          </a:p>
          <a:p>
            <a:pPr algn="ctr"/>
            <a:endParaRPr lang="en-US" sz="2400" dirty="0">
              <a:solidFill>
                <a:schemeClr val="bg1"/>
              </a:solidFill>
            </a:endParaRPr>
          </a:p>
          <a:p>
            <a:pPr algn="ctr"/>
            <a:r>
              <a:rPr lang="en-US" sz="2400" dirty="0">
                <a:solidFill>
                  <a:schemeClr val="bg1"/>
                </a:solidFill>
              </a:rPr>
              <a:t>12:30pm Healthy vegetarian lunch</a:t>
            </a:r>
          </a:p>
          <a:p>
            <a:pPr algn="ctr"/>
            <a:endParaRPr lang="en-US" sz="2400" dirty="0">
              <a:solidFill>
                <a:schemeClr val="bg1"/>
              </a:solidFill>
            </a:endParaRPr>
          </a:p>
          <a:p>
            <a:pPr algn="ctr"/>
            <a:r>
              <a:rPr lang="en-US" sz="2400" dirty="0">
                <a:solidFill>
                  <a:schemeClr val="bg1"/>
                </a:solidFill>
              </a:rPr>
              <a:t>3pm-4pm: Mindfulness exercise/ yoga/ qigong</a:t>
            </a:r>
          </a:p>
          <a:p>
            <a:pPr algn="ctr"/>
            <a:r>
              <a:rPr lang="en-US" sz="2400" dirty="0">
                <a:solidFill>
                  <a:schemeClr val="bg1"/>
                </a:solidFill>
              </a:rPr>
              <a:t>Tai chi</a:t>
            </a:r>
          </a:p>
          <a:p>
            <a:pPr algn="ctr"/>
            <a:endParaRPr lang="en-US" sz="2400" dirty="0">
              <a:solidFill>
                <a:schemeClr val="bg1"/>
              </a:solidFill>
            </a:endParaRPr>
          </a:p>
          <a:p>
            <a:pPr algn="ctr"/>
            <a:r>
              <a:rPr lang="en-US" sz="2400" dirty="0">
                <a:solidFill>
                  <a:schemeClr val="bg1"/>
                </a:solidFill>
              </a:rPr>
              <a:t>5pm: Healthy dinner</a:t>
            </a:r>
          </a:p>
          <a:p>
            <a:pPr algn="ctr"/>
            <a:endParaRPr lang="en-US" sz="2400" dirty="0">
              <a:solidFill>
                <a:schemeClr val="bg1"/>
              </a:solidFill>
            </a:endParaRPr>
          </a:p>
          <a:p>
            <a:pPr algn="ctr"/>
            <a:r>
              <a:rPr lang="en-US" sz="2400" dirty="0">
                <a:solidFill>
                  <a:schemeClr val="bg1"/>
                </a:solidFill>
              </a:rPr>
              <a:t>7pm-8pm: Traditional Thai medicine treatment/ massage</a:t>
            </a:r>
          </a:p>
          <a:p>
            <a:pPr algn="ctr"/>
            <a:endParaRPr lang="en-US" sz="2400" dirty="0">
              <a:solidFill>
                <a:schemeClr val="bg1"/>
              </a:solidFill>
            </a:endParaRPr>
          </a:p>
        </p:txBody>
      </p:sp>
    </p:spTree>
    <p:extLst>
      <p:ext uri="{BB962C8B-B14F-4D97-AF65-F5344CB8AC3E}">
        <p14:creationId xmlns:p14="http://schemas.microsoft.com/office/powerpoint/2010/main" val="229943536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2FCD91-C0F4-178E-E5D1-DF90C1454EE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366C797-89A5-5778-A18B-A014DB419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0861056-6F7B-9004-FF00-77EF07F4C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0701234E-AB62-626E-6E28-60975863D131}"/>
              </a:ext>
            </a:extLst>
          </p:cNvPr>
          <p:cNvGraphicFramePr>
            <a:graphicFrameLocks noGrp="1"/>
          </p:cNvGraphicFramePr>
          <p:nvPr>
            <p:extLst>
              <p:ext uri="{D42A27DB-BD31-4B8C-83A1-F6EECF244321}">
                <p14:modId xmlns:p14="http://schemas.microsoft.com/office/powerpoint/2010/main" val="4177097030"/>
              </p:ext>
            </p:extLst>
          </p:nvPr>
        </p:nvGraphicFramePr>
        <p:xfrm>
          <a:off x="643467" y="1253468"/>
          <a:ext cx="10905067" cy="4581080"/>
        </p:xfrm>
        <a:graphic>
          <a:graphicData uri="http://schemas.openxmlformats.org/drawingml/2006/table">
            <a:tbl>
              <a:tblPr firstRow="1" bandRow="1">
                <a:noFill/>
                <a:tableStyleId>{5C22544A-7EE6-4342-B048-85BDC9FD1C3A}</a:tableStyleId>
              </a:tblPr>
              <a:tblGrid>
                <a:gridCol w="2639817">
                  <a:extLst>
                    <a:ext uri="{9D8B030D-6E8A-4147-A177-3AD203B41FA5}">
                      <a16:colId xmlns:a16="http://schemas.microsoft.com/office/drawing/2014/main" val="2233749973"/>
                    </a:ext>
                  </a:extLst>
                </a:gridCol>
                <a:gridCol w="2896448">
                  <a:extLst>
                    <a:ext uri="{9D8B030D-6E8A-4147-A177-3AD203B41FA5}">
                      <a16:colId xmlns:a16="http://schemas.microsoft.com/office/drawing/2014/main" val="2684506426"/>
                    </a:ext>
                  </a:extLst>
                </a:gridCol>
                <a:gridCol w="2896448">
                  <a:extLst>
                    <a:ext uri="{9D8B030D-6E8A-4147-A177-3AD203B41FA5}">
                      <a16:colId xmlns:a16="http://schemas.microsoft.com/office/drawing/2014/main" val="3062805821"/>
                    </a:ext>
                  </a:extLst>
                </a:gridCol>
                <a:gridCol w="2472354">
                  <a:extLst>
                    <a:ext uri="{9D8B030D-6E8A-4147-A177-3AD203B41FA5}">
                      <a16:colId xmlns:a16="http://schemas.microsoft.com/office/drawing/2014/main" val="2873540240"/>
                    </a:ext>
                  </a:extLst>
                </a:gridCol>
              </a:tblGrid>
              <a:tr h="676462">
                <a:tc gridSpan="4">
                  <a:txBody>
                    <a:bodyPr/>
                    <a:lstStyle/>
                    <a:p>
                      <a:pPr algn="ctr" fontAlgn="b">
                        <a:buNone/>
                      </a:pPr>
                      <a:r>
                        <a:rPr lang="en-US" sz="2500" b="1" u="none" strike="noStrike" dirty="0">
                          <a:solidFill>
                            <a:schemeClr val="tx1">
                              <a:lumMod val="75000"/>
                              <a:lumOff val="25000"/>
                            </a:schemeClr>
                          </a:solidFill>
                          <a:effectLst/>
                        </a:rPr>
                        <a:t>Spirit of Thailand Entitlements by day (3-night program)</a:t>
                      </a:r>
                      <a:endParaRPr lang="en-US" sz="2500" b="1"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05853103"/>
                  </a:ext>
                </a:extLst>
              </a:tr>
              <a:tr h="572069">
                <a:tc>
                  <a:txBody>
                    <a:bodyPr/>
                    <a:lstStyle/>
                    <a:p>
                      <a:pPr algn="ctr" fontAlgn="b">
                        <a:buNone/>
                      </a:pPr>
                      <a:r>
                        <a:rPr lang="en-US" sz="1800" b="1" u="none" strike="noStrike">
                          <a:solidFill>
                            <a:schemeClr val="tx1">
                              <a:lumMod val="75000"/>
                              <a:lumOff val="25000"/>
                            </a:schemeClr>
                          </a:solidFill>
                          <a:effectLst/>
                        </a:rPr>
                        <a:t>Arrival Day</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b">
                        <a:buNone/>
                      </a:pPr>
                      <a:r>
                        <a:rPr lang="en-US" sz="1800" b="1" u="none" strike="noStrike">
                          <a:solidFill>
                            <a:schemeClr val="tx1">
                              <a:lumMod val="75000"/>
                              <a:lumOff val="25000"/>
                            </a:schemeClr>
                          </a:solidFill>
                          <a:effectLst/>
                        </a:rPr>
                        <a:t>Day 2</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b">
                        <a:buNone/>
                      </a:pPr>
                      <a:r>
                        <a:rPr lang="en-US" sz="1800" b="1" u="none" strike="noStrike">
                          <a:solidFill>
                            <a:schemeClr val="tx1">
                              <a:lumMod val="75000"/>
                              <a:lumOff val="25000"/>
                            </a:schemeClr>
                          </a:solidFill>
                          <a:effectLst/>
                        </a:rPr>
                        <a:t>Day 3</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b">
                        <a:buNone/>
                      </a:pPr>
                      <a:r>
                        <a:rPr lang="en-US" sz="1800" b="1" u="none" strike="noStrike">
                          <a:solidFill>
                            <a:schemeClr val="tx1">
                              <a:lumMod val="75000"/>
                              <a:lumOff val="25000"/>
                            </a:schemeClr>
                          </a:solidFill>
                          <a:effectLst/>
                        </a:rPr>
                        <a:t>Departure day</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211576907"/>
                  </a:ext>
                </a:extLst>
              </a:tr>
              <a:tr h="843489">
                <a:tc>
                  <a:txBody>
                    <a:bodyPr/>
                    <a:lstStyle/>
                    <a:p>
                      <a:pPr algn="l" fontAlgn="b">
                        <a:buNone/>
                      </a:pPr>
                      <a:r>
                        <a:rPr lang="en-US" sz="1800" u="none" strike="noStrike" dirty="0">
                          <a:solidFill>
                            <a:schemeClr val="tx1">
                              <a:lumMod val="75000"/>
                              <a:lumOff val="25000"/>
                            </a:schemeClr>
                          </a:solidFill>
                          <a:effectLst/>
                        </a:rPr>
                        <a:t>Initial consultation  (60 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Meditation (60min)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Meditation (60min)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Final Meditation (60min)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049540788"/>
                  </a:ext>
                </a:extLst>
              </a:tr>
              <a:tr h="84348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u="none" strike="noStrike" dirty="0">
                          <a:solidFill>
                            <a:schemeClr val="tx1">
                              <a:lumMod val="75000"/>
                              <a:lumOff val="25000"/>
                            </a:schemeClr>
                          </a:solidFill>
                          <a:effectLst/>
                        </a:rPr>
                        <a:t>Spa treatment (60min)</a:t>
                      </a:r>
                      <a:endParaRPr lang="en-US" sz="1800" b="0" i="0" u="none" strike="noStrike" dirty="0">
                        <a:solidFill>
                          <a:schemeClr val="tx1">
                            <a:lumMod val="75000"/>
                            <a:lumOff val="25000"/>
                          </a:schemeClr>
                        </a:solidFill>
                        <a:effectLst/>
                        <a:latin typeface="Aptos Narrow" panose="020B0004020202020204" pitchFamily="34" charset="0"/>
                      </a:endParaRPr>
                    </a:p>
                    <a:p>
                      <a:pPr algn="l" fontAlgn="b">
                        <a:buNone/>
                      </a:pP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Buddhist offerings/ ceremony/ meditation (120 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Buddhist offerings/ ceremony/ meditation (120 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Final consultaion (30min)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012502350"/>
                  </a:ext>
                </a:extLst>
              </a:tr>
              <a:tr h="843489">
                <a:tc>
                  <a:txBody>
                    <a:bodyPr/>
                    <a:lstStyle/>
                    <a:p>
                      <a:pPr algn="l" fontAlgn="b">
                        <a:buNone/>
                      </a:pP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Mindfulness exercise (60min)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dirty="0">
                          <a:solidFill>
                            <a:schemeClr val="tx1">
                              <a:lumMod val="75000"/>
                              <a:lumOff val="25000"/>
                            </a:schemeClr>
                          </a:solidFill>
                          <a:effectLst/>
                        </a:rPr>
                        <a:t>Mindfulness exercise (60min)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 </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57240440"/>
                  </a:ext>
                </a:extLst>
              </a:tr>
              <a:tr h="572069">
                <a:tc>
                  <a:txBody>
                    <a:bodyPr/>
                    <a:lstStyle/>
                    <a:p>
                      <a:pPr algn="l" fontAlgn="b">
                        <a:buNone/>
                      </a:pPr>
                      <a:r>
                        <a:rPr lang="en-US" sz="1800" u="none" strike="noStrike">
                          <a:solidFill>
                            <a:schemeClr val="tx1">
                              <a:lumMod val="75000"/>
                              <a:lumOff val="25000"/>
                            </a:schemeClr>
                          </a:solidFill>
                          <a:effectLst/>
                        </a:rPr>
                        <a:t> </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l" fontAlgn="b">
                        <a:buNone/>
                      </a:pPr>
                      <a:r>
                        <a:rPr lang="en-US" sz="1800" u="none" strike="noStrike">
                          <a:solidFill>
                            <a:schemeClr val="tx1">
                              <a:lumMod val="75000"/>
                              <a:lumOff val="25000"/>
                            </a:schemeClr>
                          </a:solidFill>
                          <a:effectLst/>
                        </a:rPr>
                        <a:t>Spa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l" fontAlgn="b">
                        <a:buNone/>
                      </a:pPr>
                      <a:r>
                        <a:rPr lang="en-US" sz="1800" u="none" strike="noStrike">
                          <a:solidFill>
                            <a:schemeClr val="tx1">
                              <a:lumMod val="75000"/>
                              <a:lumOff val="25000"/>
                            </a:schemeClr>
                          </a:solidFill>
                          <a:effectLst/>
                        </a:rPr>
                        <a:t>Spa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l" fontAlgn="b">
                        <a:buNone/>
                      </a:pPr>
                      <a:r>
                        <a:rPr lang="en-US" sz="1800" u="none" strike="noStrike" dirty="0">
                          <a:solidFill>
                            <a:schemeClr val="tx1">
                              <a:lumMod val="75000"/>
                              <a:lumOff val="25000"/>
                            </a:schemeClr>
                          </a:solidFill>
                          <a:effectLst/>
                        </a:rPr>
                        <a:t> </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extLst>
                  <a:ext uri="{0D108BD9-81ED-4DB2-BD59-A6C34878D82A}">
                    <a16:rowId xmlns:a16="http://schemas.microsoft.com/office/drawing/2014/main" val="1765824351"/>
                  </a:ext>
                </a:extLst>
              </a:tr>
            </a:tbl>
          </a:graphicData>
        </a:graphic>
      </p:graphicFrame>
    </p:spTree>
    <p:extLst>
      <p:ext uri="{BB962C8B-B14F-4D97-AF65-F5344CB8AC3E}">
        <p14:creationId xmlns:p14="http://schemas.microsoft.com/office/powerpoint/2010/main" val="2315164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Fighting Chance"/>
          <p:cNvSpPr txBox="1">
            <a:spLocks noGrp="1"/>
          </p:cNvSpPr>
          <p:nvPr>
            <p:ph type="title"/>
          </p:nvPr>
        </p:nvSpPr>
        <p:spPr>
          <a:xfrm>
            <a:off x="312904" y="478682"/>
            <a:ext cx="4889501" cy="717551"/>
          </a:xfrm>
          <a:prstGeom prst="rect">
            <a:avLst/>
          </a:prstGeom>
        </p:spPr>
        <p:txBody>
          <a:bodyPr/>
          <a:lstStyle>
            <a:lvl1pPr>
              <a:defRPr spc="-200"/>
            </a:lvl1pPr>
          </a:lstStyle>
          <a:p>
            <a:r>
              <a:rPr dirty="0">
                <a:solidFill>
                  <a:schemeClr val="bg1"/>
                </a:solidFill>
                <a:latin typeface="Helvetica Neue (Body)"/>
              </a:rPr>
              <a:t>Fighting Chance</a:t>
            </a:r>
          </a:p>
        </p:txBody>
      </p:sp>
      <p:sp>
        <p:nvSpPr>
          <p:cNvPr id="214" name="Health and Fitness Program"/>
          <p:cNvSpPr txBox="1">
            <a:spLocks noGrp="1"/>
          </p:cNvSpPr>
          <p:nvPr>
            <p:ph type="body" sz="quarter" idx="1"/>
          </p:nvPr>
        </p:nvSpPr>
        <p:spPr>
          <a:xfrm>
            <a:off x="312904" y="1122406"/>
            <a:ext cx="4889501" cy="467390"/>
          </a:xfrm>
          <a:prstGeom prst="rect">
            <a:avLst/>
          </a:prstGeom>
        </p:spPr>
        <p:txBody>
          <a:bodyPr>
            <a:normAutofit fontScale="92500" lnSpcReduction="10000"/>
          </a:bodyPr>
          <a:lstStyle/>
          <a:p>
            <a:r>
              <a:rPr dirty="0">
                <a:solidFill>
                  <a:schemeClr val="bg1"/>
                </a:solidFill>
                <a:latin typeface="Helvetica Neue (Body)"/>
              </a:rPr>
              <a:t>Health and Fitness Program</a:t>
            </a:r>
          </a:p>
        </p:txBody>
      </p:sp>
      <p:sp>
        <p:nvSpPr>
          <p:cNvPr id="215" name="This program will reshape the guest both physically and mentally by taking them on the journey of the traditional Muay Thai fighter. Thai boxers are some of the most fit athletes in the world and the guest will get a chance to experience the results of t"/>
          <p:cNvSpPr txBox="1">
            <a:spLocks noGrp="1"/>
          </p:cNvSpPr>
          <p:nvPr>
            <p:ph type="body" idx="21"/>
          </p:nvPr>
        </p:nvSpPr>
        <p:spPr>
          <a:xfrm>
            <a:off x="382034" y="1944514"/>
            <a:ext cx="5760538" cy="412800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55000" lnSpcReduction="20000"/>
          </a:bodyPr>
          <a:lstStyle/>
          <a:p>
            <a:pPr marL="0" indent="0" defTabSz="224028">
              <a:lnSpc>
                <a:spcPct val="100000"/>
              </a:lnSpc>
              <a:spcBef>
                <a:spcPts val="0"/>
              </a:spcBef>
              <a:buNone/>
              <a:defRPr sz="4400"/>
            </a:pPr>
            <a:r>
              <a:rPr dirty="0">
                <a:solidFill>
                  <a:schemeClr val="bg1"/>
                </a:solidFill>
                <a:latin typeface="Helvetica Neue (Body)"/>
              </a:rPr>
              <a:t>This program will reshape the guest both physically and mentally by taking them on the journey of the traditional Muay Thai fighter. Thai boxers are some of the most fit athletes in the world and the guest will get a chance to experience the results of their training. </a:t>
            </a:r>
          </a:p>
          <a:p>
            <a:pPr marL="0" indent="0" defTabSz="224028">
              <a:lnSpc>
                <a:spcPct val="100000"/>
              </a:lnSpc>
              <a:spcBef>
                <a:spcPts val="0"/>
              </a:spcBef>
              <a:buNone/>
              <a:defRPr sz="4400"/>
            </a:pPr>
            <a:endParaRPr dirty="0">
              <a:solidFill>
                <a:schemeClr val="bg1"/>
              </a:solidFill>
              <a:latin typeface="Helvetica Neue (Body)"/>
            </a:endParaRPr>
          </a:p>
          <a:p>
            <a:pPr marL="0" indent="0" defTabSz="224028">
              <a:lnSpc>
                <a:spcPct val="100000"/>
              </a:lnSpc>
              <a:spcBef>
                <a:spcPts val="0"/>
              </a:spcBef>
              <a:buNone/>
              <a:defRPr sz="4400"/>
            </a:pPr>
            <a:r>
              <a:rPr dirty="0">
                <a:solidFill>
                  <a:schemeClr val="bg1"/>
                </a:solidFill>
                <a:latin typeface="Helvetica Neue (Body)"/>
              </a:rPr>
              <a:t>Sessions of stretching, cardio, and light fight training based on the guest’s level of intensity will be incorporated into an overall fitness plan that will get the guest back in to “fighting shape”.</a:t>
            </a:r>
          </a:p>
        </p:txBody>
      </p:sp>
      <p:pic>
        <p:nvPicPr>
          <p:cNvPr id="3" name="Picture 2">
            <a:extLst>
              <a:ext uri="{FF2B5EF4-FFF2-40B4-BE49-F238E27FC236}">
                <a16:creationId xmlns:a16="http://schemas.microsoft.com/office/drawing/2014/main" id="{5C466F94-382B-EE97-9CE2-8F96FBBC7CEE}"/>
              </a:ext>
            </a:extLst>
          </p:cNvPr>
          <p:cNvPicPr>
            <a:picLocks noChangeAspect="1"/>
          </p:cNvPicPr>
          <p:nvPr/>
        </p:nvPicPr>
        <p:blipFill>
          <a:blip r:embed="rId2"/>
          <a:stretch>
            <a:fillRect/>
          </a:stretch>
        </p:blipFill>
        <p:spPr>
          <a:xfrm>
            <a:off x="0" y="0"/>
            <a:ext cx="12238572" cy="6858000"/>
          </a:xfrm>
          <a:prstGeom prst="rect">
            <a:avLst/>
          </a:prstGeom>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build="p" bldLvl="5"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IMG_0294.jpeg" descr="IMG_0294.jpeg"/>
          <p:cNvPicPr>
            <a:picLocks noChangeAspect="1"/>
          </p:cNvPicPr>
          <p:nvPr/>
        </p:nvPicPr>
        <p:blipFill>
          <a:blip r:embed="rId2"/>
          <a:stretch>
            <a:fillRect/>
          </a:stretch>
        </p:blipFill>
        <p:spPr>
          <a:xfrm>
            <a:off x="-169614" y="-722218"/>
            <a:ext cx="12377447" cy="8110614"/>
          </a:xfrm>
          <a:prstGeom prst="rect">
            <a:avLst/>
          </a:prstGeom>
          <a:ln w="12700">
            <a:miter lim="400000"/>
          </a:ln>
        </p:spPr>
      </p:pic>
      <p:sp>
        <p:nvSpPr>
          <p:cNvPr id="219" name="Featured fitness and activities- Muay Thai classes, private fitness sessions (including stretching, weights, and cardio), hikes and outdoor training, meditation, trip to outside Muay Thai training facility and/or a Thai boxing match.…"/>
          <p:cNvSpPr txBox="1">
            <a:spLocks noGrp="1"/>
          </p:cNvSpPr>
          <p:nvPr>
            <p:ph type="body" idx="1"/>
          </p:nvPr>
        </p:nvSpPr>
        <p:spPr>
          <a:xfrm>
            <a:off x="603250" y="1070043"/>
            <a:ext cx="10985500" cy="4422961"/>
          </a:xfrm>
          <a:prstGeom prst="rect">
            <a:avLst/>
          </a:prstGeom>
          <a:solidFill>
            <a:srgbClr val="858585">
              <a:alpha val="85616"/>
            </a:srgbClr>
          </a:solidFill>
        </p:spPr>
        <p:txBody>
          <a:bodyPr vert="horz" lIns="25400" tIns="25400" rIns="25400" bIns="25400" numCol="1" spcCol="38100" rtlCol="0">
            <a:normAutofit fontScale="55000" lnSpcReduction="20000"/>
          </a:bodyPr>
          <a:lstStyle/>
          <a:p>
            <a:pPr defTabSz="221742">
              <a:defRPr sz="4800"/>
            </a:pPr>
            <a:r>
              <a:rPr dirty="0"/>
              <a:t>Featured </a:t>
            </a:r>
            <a:r>
              <a:rPr lang="en-US" dirty="0"/>
              <a:t>F</a:t>
            </a:r>
            <a:r>
              <a:rPr dirty="0"/>
              <a:t>itness and </a:t>
            </a:r>
            <a:r>
              <a:rPr lang="en-US" dirty="0"/>
              <a:t>Ac</a:t>
            </a:r>
            <a:r>
              <a:rPr dirty="0"/>
              <a:t>tivities- </a:t>
            </a:r>
            <a:r>
              <a:rPr b="0" dirty="0"/>
              <a:t>Muay Thai classes,</a:t>
            </a:r>
            <a:r>
              <a:rPr lang="en-US" b="0" dirty="0"/>
              <a:t> learning the culture of Muay Thai (including the Wai Kru ceremony), </a:t>
            </a:r>
            <a:r>
              <a:rPr b="0" dirty="0"/>
              <a:t>private fitness sessions (including stretching, weights, and cardio), hikes and outdoor training, </a:t>
            </a:r>
            <a:r>
              <a:rPr lang="en-US" b="0" dirty="0"/>
              <a:t>and </a:t>
            </a:r>
            <a:r>
              <a:rPr b="0" dirty="0"/>
              <a:t>meditation</a:t>
            </a:r>
            <a:r>
              <a:rPr lang="en-US" b="0" dirty="0"/>
              <a:t> and breath work.</a:t>
            </a:r>
            <a:r>
              <a:rPr b="0" dirty="0"/>
              <a:t> </a:t>
            </a:r>
            <a:r>
              <a:rPr lang="en-US" b="0" dirty="0"/>
              <a:t>The program may also include a </a:t>
            </a:r>
            <a:r>
              <a:rPr b="0" dirty="0"/>
              <a:t>trip to </a:t>
            </a:r>
            <a:r>
              <a:rPr lang="en-US" b="0" dirty="0"/>
              <a:t>an </a:t>
            </a:r>
            <a:r>
              <a:rPr b="0" dirty="0"/>
              <a:t>outside Muay Thai training facility and/or a Thai boxing match</a:t>
            </a:r>
            <a:r>
              <a:rPr lang="en-US" b="0" dirty="0"/>
              <a:t> as an additional excursion. </a:t>
            </a:r>
            <a:endParaRPr b="0" dirty="0"/>
          </a:p>
          <a:p>
            <a:pPr defTabSz="221742">
              <a:defRPr sz="4800" b="0"/>
            </a:pPr>
            <a:endParaRPr b="0" dirty="0"/>
          </a:p>
          <a:p>
            <a:pPr defTabSz="221742">
              <a:defRPr sz="4800"/>
            </a:pPr>
            <a:r>
              <a:rPr dirty="0"/>
              <a:t>Featured Treatments and </a:t>
            </a:r>
            <a:r>
              <a:rPr lang="en-US" dirty="0"/>
              <a:t>Recovery</a:t>
            </a:r>
            <a:r>
              <a:rPr b="0" dirty="0"/>
              <a:t>-</a:t>
            </a:r>
            <a:r>
              <a:rPr lang="en-US" b="0" dirty="0"/>
              <a:t> T</a:t>
            </a:r>
            <a:r>
              <a:rPr b="0" dirty="0"/>
              <a:t>reatments such as Thai massage, full body massages, acupuncture and cupping, Thai poultice massage, hydro-therapies, </a:t>
            </a:r>
            <a:r>
              <a:rPr lang="en-US" b="0" dirty="0"/>
              <a:t>and Thai </a:t>
            </a:r>
            <a:r>
              <a:rPr b="0" dirty="0"/>
              <a:t>herbal medicine and teas</a:t>
            </a:r>
            <a:r>
              <a:rPr lang="en-US" b="0" dirty="0"/>
              <a:t>.</a:t>
            </a:r>
            <a:endParaRPr b="0" dirty="0"/>
          </a:p>
          <a:p>
            <a:pPr defTabSz="221742">
              <a:defRPr sz="4800" b="0"/>
            </a:pPr>
            <a:endParaRPr b="0" dirty="0"/>
          </a:p>
          <a:p>
            <a:pPr defTabSz="221742">
              <a:defRPr sz="4800"/>
            </a:pPr>
            <a:r>
              <a:rPr dirty="0"/>
              <a:t>Featured F&amp;B- </a:t>
            </a:r>
            <a:r>
              <a:rPr b="0" dirty="0"/>
              <a:t>The focus will be on healthy, </a:t>
            </a:r>
            <a:r>
              <a:rPr lang="en-US" b="0" dirty="0"/>
              <a:t>locally</a:t>
            </a:r>
            <a:r>
              <a:rPr b="0" dirty="0"/>
              <a:t> grown/ farm to table, Thai cuisine, </a:t>
            </a:r>
            <a:r>
              <a:rPr lang="en-US" b="0" dirty="0"/>
              <a:t>and Thai </a:t>
            </a:r>
            <a:r>
              <a:rPr b="0" dirty="0"/>
              <a:t>herbal medicine and teas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hter wrapping hands with tape">
            <a:extLst>
              <a:ext uri="{FF2B5EF4-FFF2-40B4-BE49-F238E27FC236}">
                <a16:creationId xmlns:a16="http://schemas.microsoft.com/office/drawing/2014/main" id="{9D9939D1-446D-3FF8-41E6-20385837E6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5746"/>
          <a:stretch>
            <a:fillRect/>
          </a:stretch>
        </p:blipFill>
        <p:spPr>
          <a:xfrm>
            <a:off x="0" y="-83976"/>
            <a:ext cx="12191980" cy="6856718"/>
          </a:xfrm>
          <a:prstGeom prst="rect">
            <a:avLst/>
          </a:prstGeom>
        </p:spPr>
      </p:pic>
      <p:sp>
        <p:nvSpPr>
          <p:cNvPr id="9" name="TextBox 8">
            <a:extLst>
              <a:ext uri="{FF2B5EF4-FFF2-40B4-BE49-F238E27FC236}">
                <a16:creationId xmlns:a16="http://schemas.microsoft.com/office/drawing/2014/main" id="{883EB405-96EB-1674-D7F9-D5B04E3EF472}"/>
              </a:ext>
            </a:extLst>
          </p:cNvPr>
          <p:cNvSpPr txBox="1"/>
          <p:nvPr/>
        </p:nvSpPr>
        <p:spPr>
          <a:xfrm>
            <a:off x="4870581" y="195944"/>
            <a:ext cx="6832988" cy="6109365"/>
          </a:xfrm>
          <a:prstGeom prst="rect">
            <a:avLst/>
          </a:prstGeom>
          <a:solidFill>
            <a:schemeClr val="tx1">
              <a:alpha val="61000"/>
            </a:schemeClr>
          </a:solidFill>
        </p:spPr>
        <p:txBody>
          <a:bodyPr wrap="square" rtlCol="0">
            <a:spAutoFit/>
          </a:bodyPr>
          <a:lstStyle/>
          <a:p>
            <a:pPr algn="ctr" defTabSz="2438337" hangingPunct="0">
              <a:spcBef>
                <a:spcPts val="3000"/>
              </a:spcBef>
            </a:pPr>
            <a:r>
              <a:rPr lang="en-US" sz="2400" dirty="0">
                <a:solidFill>
                  <a:schemeClr val="bg1"/>
                </a:solidFill>
              </a:rPr>
              <a:t>Example Daily Schedule:</a:t>
            </a:r>
          </a:p>
          <a:p>
            <a:pPr algn="ctr" defTabSz="2438337" hangingPunct="0">
              <a:spcBef>
                <a:spcPts val="3000"/>
              </a:spcBef>
            </a:pPr>
            <a:r>
              <a:rPr lang="en-US" sz="2400" dirty="0">
                <a:solidFill>
                  <a:schemeClr val="bg1"/>
                </a:solidFill>
                <a:sym typeface="Helvetica Neue"/>
              </a:rPr>
              <a:t>7am-8am:</a:t>
            </a:r>
            <a:r>
              <a:rPr lang="en-US" sz="2400" dirty="0">
                <a:solidFill>
                  <a:schemeClr val="bg1"/>
                </a:solidFill>
              </a:rPr>
              <a:t> Cardio work </a:t>
            </a:r>
          </a:p>
          <a:p>
            <a:pPr algn="ctr" defTabSz="2438337" hangingPunct="0">
              <a:spcBef>
                <a:spcPts val="3000"/>
              </a:spcBef>
            </a:pPr>
            <a:r>
              <a:rPr lang="en-US" sz="2400" dirty="0">
                <a:solidFill>
                  <a:schemeClr val="bg1"/>
                </a:solidFill>
              </a:rPr>
              <a:t>8:30am: Light breakfast</a:t>
            </a:r>
          </a:p>
          <a:p>
            <a:pPr algn="ctr" defTabSz="2438337" hangingPunct="0">
              <a:spcBef>
                <a:spcPts val="3000"/>
              </a:spcBef>
            </a:pPr>
            <a:r>
              <a:rPr lang="en-US" sz="2400" dirty="0">
                <a:solidFill>
                  <a:schemeClr val="bg1"/>
                </a:solidFill>
              </a:rPr>
              <a:t>10am-12pm: Muay Thai ceremony/ breathwork/ fight training/ stretching</a:t>
            </a:r>
          </a:p>
          <a:p>
            <a:pPr algn="ctr" defTabSz="2438337" hangingPunct="0">
              <a:spcBef>
                <a:spcPts val="3000"/>
              </a:spcBef>
            </a:pPr>
            <a:r>
              <a:rPr lang="en-US" sz="2400" dirty="0">
                <a:solidFill>
                  <a:schemeClr val="bg1"/>
                </a:solidFill>
              </a:rPr>
              <a:t>12:30pm Healthy lunch</a:t>
            </a:r>
          </a:p>
          <a:p>
            <a:pPr algn="ctr" defTabSz="2438337" hangingPunct="0">
              <a:spcBef>
                <a:spcPts val="3000"/>
              </a:spcBef>
            </a:pPr>
            <a:r>
              <a:rPr lang="en-US" sz="2400" dirty="0">
                <a:solidFill>
                  <a:schemeClr val="bg1"/>
                </a:solidFill>
                <a:sym typeface="Helvetica Neue"/>
              </a:rPr>
              <a:t>3pm-4pm: Traditional Thai medicine treatment</a:t>
            </a:r>
          </a:p>
          <a:p>
            <a:pPr algn="ctr" defTabSz="2438337" hangingPunct="0">
              <a:spcBef>
                <a:spcPts val="3000"/>
              </a:spcBef>
            </a:pPr>
            <a:r>
              <a:rPr lang="en-US" sz="2400" dirty="0">
                <a:solidFill>
                  <a:schemeClr val="bg1"/>
                </a:solidFill>
              </a:rPr>
              <a:t>5pm: Healthy dinner</a:t>
            </a:r>
          </a:p>
          <a:p>
            <a:pPr algn="ctr" defTabSz="2438337" hangingPunct="0">
              <a:spcBef>
                <a:spcPts val="3000"/>
              </a:spcBef>
            </a:pPr>
            <a:r>
              <a:rPr lang="en-US" sz="2400" dirty="0">
                <a:solidFill>
                  <a:schemeClr val="bg1"/>
                </a:solidFill>
                <a:sym typeface="Helvetica Neue"/>
              </a:rPr>
              <a:t>7pm-8pm: Spa treatment</a:t>
            </a:r>
          </a:p>
        </p:txBody>
      </p:sp>
    </p:spTree>
    <p:extLst>
      <p:ext uri="{BB962C8B-B14F-4D97-AF65-F5344CB8AC3E}">
        <p14:creationId xmlns:p14="http://schemas.microsoft.com/office/powerpoint/2010/main" val="2226104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4DFB7FE9-CEA5-E748-610B-181BEC98A7A9}"/>
              </a:ext>
            </a:extLst>
          </p:cNvPr>
          <p:cNvGraphicFramePr>
            <a:graphicFrameLocks noGrp="1"/>
          </p:cNvGraphicFramePr>
          <p:nvPr>
            <p:extLst>
              <p:ext uri="{D42A27DB-BD31-4B8C-83A1-F6EECF244321}">
                <p14:modId xmlns:p14="http://schemas.microsoft.com/office/powerpoint/2010/main" val="2192624579"/>
              </p:ext>
            </p:extLst>
          </p:nvPr>
        </p:nvGraphicFramePr>
        <p:xfrm>
          <a:off x="643467" y="1253468"/>
          <a:ext cx="10905067" cy="4351067"/>
        </p:xfrm>
        <a:graphic>
          <a:graphicData uri="http://schemas.openxmlformats.org/drawingml/2006/table">
            <a:tbl>
              <a:tblPr firstRow="1" bandRow="1">
                <a:noFill/>
                <a:tableStyleId>{5C22544A-7EE6-4342-B048-85BDC9FD1C3A}</a:tableStyleId>
              </a:tblPr>
              <a:tblGrid>
                <a:gridCol w="2639817">
                  <a:extLst>
                    <a:ext uri="{9D8B030D-6E8A-4147-A177-3AD203B41FA5}">
                      <a16:colId xmlns:a16="http://schemas.microsoft.com/office/drawing/2014/main" val="2233749973"/>
                    </a:ext>
                  </a:extLst>
                </a:gridCol>
                <a:gridCol w="2896448">
                  <a:extLst>
                    <a:ext uri="{9D8B030D-6E8A-4147-A177-3AD203B41FA5}">
                      <a16:colId xmlns:a16="http://schemas.microsoft.com/office/drawing/2014/main" val="2684506426"/>
                    </a:ext>
                  </a:extLst>
                </a:gridCol>
                <a:gridCol w="2896448">
                  <a:extLst>
                    <a:ext uri="{9D8B030D-6E8A-4147-A177-3AD203B41FA5}">
                      <a16:colId xmlns:a16="http://schemas.microsoft.com/office/drawing/2014/main" val="3062805821"/>
                    </a:ext>
                  </a:extLst>
                </a:gridCol>
                <a:gridCol w="2472354">
                  <a:extLst>
                    <a:ext uri="{9D8B030D-6E8A-4147-A177-3AD203B41FA5}">
                      <a16:colId xmlns:a16="http://schemas.microsoft.com/office/drawing/2014/main" val="2873540240"/>
                    </a:ext>
                  </a:extLst>
                </a:gridCol>
              </a:tblGrid>
              <a:tr h="676462">
                <a:tc gridSpan="4">
                  <a:txBody>
                    <a:bodyPr/>
                    <a:lstStyle/>
                    <a:p>
                      <a:pPr algn="ctr" fontAlgn="b">
                        <a:buNone/>
                      </a:pPr>
                      <a:r>
                        <a:rPr lang="en-US" sz="2500" b="1" u="none" strike="noStrike">
                          <a:solidFill>
                            <a:schemeClr val="tx1">
                              <a:lumMod val="75000"/>
                              <a:lumOff val="25000"/>
                            </a:schemeClr>
                          </a:solidFill>
                          <a:effectLst/>
                        </a:rPr>
                        <a:t>Fighting Chance Entitlements by day (3-night program)</a:t>
                      </a:r>
                      <a:endParaRPr lang="en-US" sz="25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05853103"/>
                  </a:ext>
                </a:extLst>
              </a:tr>
              <a:tr h="572069">
                <a:tc>
                  <a:txBody>
                    <a:bodyPr/>
                    <a:lstStyle/>
                    <a:p>
                      <a:pPr algn="ctr" fontAlgn="b">
                        <a:buNone/>
                      </a:pPr>
                      <a:r>
                        <a:rPr lang="en-US" sz="1800" b="1" u="none" strike="noStrike">
                          <a:solidFill>
                            <a:schemeClr val="tx1">
                              <a:lumMod val="75000"/>
                              <a:lumOff val="25000"/>
                            </a:schemeClr>
                          </a:solidFill>
                          <a:effectLst/>
                        </a:rPr>
                        <a:t>Arrival Day</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b">
                        <a:buNone/>
                      </a:pPr>
                      <a:r>
                        <a:rPr lang="en-US" sz="1800" b="1" u="none" strike="noStrike">
                          <a:solidFill>
                            <a:schemeClr val="tx1">
                              <a:lumMod val="75000"/>
                              <a:lumOff val="25000"/>
                            </a:schemeClr>
                          </a:solidFill>
                          <a:effectLst/>
                        </a:rPr>
                        <a:t>Day 2</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b">
                        <a:buNone/>
                      </a:pPr>
                      <a:r>
                        <a:rPr lang="en-US" sz="1800" b="1" u="none" strike="noStrike">
                          <a:solidFill>
                            <a:schemeClr val="tx1">
                              <a:lumMod val="75000"/>
                              <a:lumOff val="25000"/>
                            </a:schemeClr>
                          </a:solidFill>
                          <a:effectLst/>
                        </a:rPr>
                        <a:t>Day 3</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b">
                        <a:buNone/>
                      </a:pPr>
                      <a:r>
                        <a:rPr lang="en-US" sz="1800" b="1" u="none" strike="noStrike">
                          <a:solidFill>
                            <a:schemeClr val="tx1">
                              <a:lumMod val="75000"/>
                              <a:lumOff val="25000"/>
                            </a:schemeClr>
                          </a:solidFill>
                          <a:effectLst/>
                        </a:rPr>
                        <a:t>Departure day</a:t>
                      </a:r>
                      <a:endParaRPr lang="en-US" sz="1800" b="1"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211576907"/>
                  </a:ext>
                </a:extLst>
              </a:tr>
              <a:tr h="843489">
                <a:tc>
                  <a:txBody>
                    <a:bodyPr/>
                    <a:lstStyle/>
                    <a:p>
                      <a:pPr algn="l" fontAlgn="b">
                        <a:buNone/>
                      </a:pPr>
                      <a:r>
                        <a:rPr lang="en-US" sz="1800" u="none" strike="noStrike" dirty="0">
                          <a:solidFill>
                            <a:schemeClr val="tx1">
                              <a:lumMod val="75000"/>
                              <a:lumOff val="25000"/>
                            </a:schemeClr>
                          </a:solidFill>
                          <a:effectLst/>
                        </a:rPr>
                        <a:t>Initial consultation  (60 min)</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Cardio work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Cardio work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Closing ceremony/ Meditation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049540788"/>
                  </a:ext>
                </a:extLst>
              </a:tr>
              <a:tr h="843489">
                <a:tc>
                  <a:txBody>
                    <a:bodyPr/>
                    <a:lstStyle/>
                    <a:p>
                      <a:pPr algn="l" fontAlgn="b">
                        <a:buNone/>
                      </a:pPr>
                      <a:r>
                        <a:rPr lang="en-US" sz="1800" u="none" strike="noStrike">
                          <a:solidFill>
                            <a:schemeClr val="tx1">
                              <a:lumMod val="75000"/>
                              <a:lumOff val="25000"/>
                            </a:schemeClr>
                          </a:solidFill>
                          <a:effectLst/>
                        </a:rPr>
                        <a:t>Fitness assessment </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Ceremony/ Muay Thai training (120 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Ceremony/ Muay Thai training (120 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Final consultaion (30min)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012502350"/>
                  </a:ext>
                </a:extLst>
              </a:tr>
              <a:tr h="843489">
                <a:tc>
                  <a:txBody>
                    <a:bodyPr/>
                    <a:lstStyle/>
                    <a:p>
                      <a:pPr algn="l" fontAlgn="b">
                        <a:buNone/>
                      </a:pPr>
                      <a:r>
                        <a:rPr lang="en-US" sz="1800" u="none" strike="noStrike">
                          <a:solidFill>
                            <a:schemeClr val="tx1">
                              <a:lumMod val="75000"/>
                              <a:lumOff val="25000"/>
                            </a:schemeClr>
                          </a:solidFill>
                          <a:effectLst/>
                        </a:rPr>
                        <a:t>Spa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TTM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TTM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l" fontAlgn="b">
                        <a:buNone/>
                      </a:pPr>
                      <a:r>
                        <a:rPr lang="en-US" sz="1800" u="none" strike="noStrike">
                          <a:solidFill>
                            <a:schemeClr val="tx1">
                              <a:lumMod val="75000"/>
                              <a:lumOff val="25000"/>
                            </a:schemeClr>
                          </a:solidFill>
                          <a:effectLst/>
                        </a:rPr>
                        <a:t> </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57240440"/>
                  </a:ext>
                </a:extLst>
              </a:tr>
              <a:tr h="572069">
                <a:tc>
                  <a:txBody>
                    <a:bodyPr/>
                    <a:lstStyle/>
                    <a:p>
                      <a:pPr algn="l" fontAlgn="b">
                        <a:buNone/>
                      </a:pPr>
                      <a:r>
                        <a:rPr lang="en-US" sz="1800" u="none" strike="noStrike">
                          <a:solidFill>
                            <a:schemeClr val="tx1">
                              <a:lumMod val="75000"/>
                              <a:lumOff val="25000"/>
                            </a:schemeClr>
                          </a:solidFill>
                          <a:effectLst/>
                        </a:rPr>
                        <a:t> </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l" fontAlgn="b">
                        <a:buNone/>
                      </a:pPr>
                      <a:r>
                        <a:rPr lang="en-US" sz="1800" u="none" strike="noStrike">
                          <a:solidFill>
                            <a:schemeClr val="tx1">
                              <a:lumMod val="75000"/>
                              <a:lumOff val="25000"/>
                            </a:schemeClr>
                          </a:solidFill>
                          <a:effectLst/>
                        </a:rPr>
                        <a:t>Spa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l" fontAlgn="b">
                        <a:buNone/>
                      </a:pPr>
                      <a:r>
                        <a:rPr lang="en-US" sz="1800" u="none" strike="noStrike">
                          <a:solidFill>
                            <a:schemeClr val="tx1">
                              <a:lumMod val="75000"/>
                              <a:lumOff val="25000"/>
                            </a:schemeClr>
                          </a:solidFill>
                          <a:effectLst/>
                        </a:rPr>
                        <a:t>Spa treatment (60min)</a:t>
                      </a:r>
                      <a:endParaRPr lang="en-US" sz="1800" b="0" i="0" u="none" strike="noStrike">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l" fontAlgn="b">
                        <a:buNone/>
                      </a:pPr>
                      <a:r>
                        <a:rPr lang="en-US" sz="1800" u="none" strike="noStrike" dirty="0">
                          <a:solidFill>
                            <a:schemeClr val="tx1">
                              <a:lumMod val="75000"/>
                              <a:lumOff val="25000"/>
                            </a:schemeClr>
                          </a:solidFill>
                          <a:effectLst/>
                        </a:rPr>
                        <a:t> </a:t>
                      </a:r>
                      <a:endParaRPr lang="en-US" sz="1800" b="0" i="0" u="none" strike="noStrike" dirty="0">
                        <a:solidFill>
                          <a:schemeClr val="tx1">
                            <a:lumMod val="75000"/>
                            <a:lumOff val="25000"/>
                          </a:schemeClr>
                        </a:solidFill>
                        <a:effectLst/>
                        <a:latin typeface="Aptos Narrow" panose="020B0004020202020204" pitchFamily="34" charset="0"/>
                      </a:endParaRPr>
                    </a:p>
                  </a:txBody>
                  <a:tcPr marL="250541" marR="187906" marT="125271" marB="125271" anchor="b">
                    <a:lnL w="12700" cmpd="sng">
                      <a:noFill/>
                      <a:prstDash val="solid"/>
                    </a:lnL>
                    <a:lnR w="12700" cmpd="sng">
                      <a:noFill/>
                      <a:prstDash val="solid"/>
                    </a:lnR>
                    <a:lnT w="9525" cap="flat" cmpd="sng" algn="ctr">
                      <a:solidFill>
                        <a:srgbClr val="C7C6C1"/>
                      </a:solidFill>
                      <a:prstDash val="solid"/>
                    </a:lnT>
                    <a:lnB w="12700" cmpd="sng">
                      <a:noFill/>
                      <a:prstDash val="solid"/>
                    </a:lnB>
                    <a:noFill/>
                  </a:tcPr>
                </a:tc>
                <a:extLst>
                  <a:ext uri="{0D108BD9-81ED-4DB2-BD59-A6C34878D82A}">
                    <a16:rowId xmlns:a16="http://schemas.microsoft.com/office/drawing/2014/main" val="1765824351"/>
                  </a:ext>
                </a:extLst>
              </a:tr>
            </a:tbl>
          </a:graphicData>
        </a:graphic>
      </p:graphicFrame>
    </p:spTree>
    <p:extLst>
      <p:ext uri="{BB962C8B-B14F-4D97-AF65-F5344CB8AC3E}">
        <p14:creationId xmlns:p14="http://schemas.microsoft.com/office/powerpoint/2010/main" val="430934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590</Words>
  <Application>Microsoft Macintosh PowerPoint</Application>
  <PresentationFormat>Widescreen</PresentationFormat>
  <Paragraphs>81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Aptos Narrow</vt:lpstr>
      <vt:lpstr>Arial</vt:lpstr>
      <vt:lpstr>Helvetica Neue</vt:lpstr>
      <vt:lpstr>Helvetica Neue (Body)</vt:lpstr>
      <vt:lpstr>Office Theme</vt:lpstr>
      <vt:lpstr>PowerPoint Presentation</vt:lpstr>
      <vt:lpstr>PowerPoint Presentation</vt:lpstr>
      <vt:lpstr>PowerPoint Presentation</vt:lpstr>
      <vt:lpstr>PowerPoint Presentation</vt:lpstr>
      <vt:lpstr>Fighting Chance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Howard Melladew</dc:creator>
  <cp:lastModifiedBy>Treephol  Trakulrungsi</cp:lastModifiedBy>
  <cp:revision>3</cp:revision>
  <dcterms:created xsi:type="dcterms:W3CDTF">2026-02-04T09:40:45Z</dcterms:created>
  <dcterms:modified xsi:type="dcterms:W3CDTF">2026-05-13T09:26:50Z</dcterms:modified>
</cp:coreProperties>
</file>