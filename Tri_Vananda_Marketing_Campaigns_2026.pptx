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2971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image — full-bleed botanical macro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(lotus petal, dewdrops) warm golden light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CF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MARKETING PLANNING DECK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1005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01 · Q1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0" y="1417320"/>
            <a:ext cx="320040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91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83680" y="3337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6583680" y="4297680"/>
            <a:ext cx="3200400" cy="0"/>
          </a:xfrm>
          <a:prstGeom prst="line">
            <a:avLst/>
          </a:prstGeom>
          <a:noFill/>
          <a:ln w="6350">
            <a:solidFill>
              <a:srgbClr val="BAB9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480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campaigns. One integrated way of living.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planning document for Tri Vananda's 2026 marketing system.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5943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BELONG · BLOOM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6263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PHUKET, THAILAND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· CONFIDENTIALITY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solidFill>
            <a:srgbClr val="CF554E"/>
          </a:solidFill>
          <a:ln w="12700">
            <a:solidFill>
              <a:srgbClr val="CF55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for external distribution.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planning document — not a client deliverable.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2336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3515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deck discusses pipeline partners, unannounced brands, and internal campaign plans. It falls under Tier 2 (INTERNAL) per the Tri Vananda content governance framework.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38218" y="402336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38218" y="43891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Verification-pending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8218" y="4800600"/>
            <a:ext cx="3515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References to Montara Wellness, Clinique La Prairie branded residences, and C1–C5 campaign executions are internal working names. Do not share externally until cleared.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19237" y="402336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19237" y="43891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19237" y="4800600"/>
            <a:ext cx="3515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marketing planning, team briefings, and CEO review only. Numbers, partner names, and timings are directional — not approved for publication.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FRAME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idea, spoken in six voices.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37160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83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Vananda is not one product sold many ways. It is one way of living — integrated, regenerative, multigenerational — that reveals itself differently to different people.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3383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2026 campaign system is designed around this truth. A single master narrative — Integrated Living — expressed through five audience-specific campaigns and one always-on foundation.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30352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76524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276524" y="6035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5848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095848" y="6035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pillars each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15171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915171" y="6035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CAMPAIGN SYSTEM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campaigns, one system.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campaign holds its own audience, concept and narrative. Together, they form one integrated marketing architecture for Tri Vananda.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Living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0292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3308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AUDIENCES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16298" y="3017520"/>
            <a:ext cx="0" cy="128016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0618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90618" y="333756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Living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490618" y="4069080"/>
            <a:ext cx="50292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0618" y="413308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TYCOON + FAMILY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975397" y="3017520"/>
            <a:ext cx="0" cy="128016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9717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49717" y="333756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Life Already Here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249717" y="4069080"/>
            <a:ext cx="50292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9717" y="413308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BUYER + TH PARTNER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4480560"/>
            <a:ext cx="3393338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" y="498348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Stay to Belonging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31520" y="5715000"/>
            <a:ext cx="50292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7900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TRISARA GUEST LOOKALIKES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16298" y="4663440"/>
            <a:ext cx="0" cy="128016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99178" y="4480560"/>
            <a:ext cx="3393338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0618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90618" y="498348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Longevity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4490618" y="5715000"/>
            <a:ext cx="50292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0618" y="577900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LA PRAIRIE LOOKALIKES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75397" y="4663440"/>
            <a:ext cx="0" cy="128016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8277" y="4480560"/>
            <a:ext cx="3393338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9717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49717" y="498348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Proof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8249717" y="5715000"/>
            <a:ext cx="50292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9717" y="577900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WELLNESS SUMMIT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AUDIENCE 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 speaking to.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audience enters Tri Vananda through a different door. The system meets them at theirs.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926080"/>
            <a:ext cx="3931920" cy="320040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063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092440" y="4069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Multi-generational family moment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unscripted, warm light, documentary feel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master story — always-on brand foundation.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10712"/>
            <a:ext cx="72237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83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4838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Tycoon + Family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483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Legacy, continuity, a home that evolves with the family.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72237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95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995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Buyer + TH Partner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995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Proximity, readiness, an effortless decision.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72237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07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507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Trisara Guest Lookalikes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4507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temporary stay to something more permanent.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46904"/>
            <a:ext cx="72237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20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50200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La Prairie Lookalikes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50200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clinic visit to daily longevity at home.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458968"/>
            <a:ext cx="72237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532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5532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Wellness Summit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concept to a working, scalable model.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TO READ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04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campaign is framed.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pages per campaign. Always in the same order.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0" cy="2743200"/>
          </a:xfrm>
          <a:prstGeom prst="line">
            <a:avLst/>
          </a:prstGeom>
          <a:noFill/>
          <a:ln w="19050">
            <a:solidFill>
              <a:srgbClr val="CF55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Opening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2714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Audience, concept, key narrative. One image to set the feeling, one sentence to set the intent.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8698" y="3108960"/>
            <a:ext cx="0" cy="2743200"/>
          </a:xfrm>
          <a:prstGeom prst="line">
            <a:avLst/>
          </a:prstGeom>
          <a:noFill/>
          <a:ln w="19050">
            <a:solidFill>
              <a:srgbClr val="CF55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157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51578" y="356616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Pillars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51578" y="4114800"/>
            <a:ext cx="32714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sub-content pillars that give the campaign its range — the themes we build content around.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80197" y="3108960"/>
            <a:ext cx="0" cy="2743200"/>
          </a:xfrm>
          <a:prstGeom prst="line">
            <a:avLst/>
          </a:prstGeom>
          <a:noFill/>
          <a:ln w="19050">
            <a:solidFill>
              <a:srgbClr val="CF55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3077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63077" y="356616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Initiatives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63077" y="4114800"/>
            <a:ext cx="32714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activations, assets and executions that bring the campaign to life.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· INTEGRATED LIVING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777240"/>
            <a:ext cx="6035040" cy="5532120"/>
          </a:xfrm>
          <a:prstGeom prst="rect">
            <a:avLst/>
          </a:prstGeom>
          <a:solidFill>
            <a:srgbClr val="2E4235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30861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 establishing shot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botanical garden, nine lakes,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Vananda land in golden hour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5943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Living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Audiences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NARRATIVE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9D6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place where wellness, community, and sustainability come together as one integrated way of living."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· INTEGRATED LIVING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LIVING · ALL AUDIENCES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themes we build the campaign's content and stories around.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743200"/>
            <a:ext cx="320040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823960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detail — lotus petal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dewdrops, soft bokeh,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earth tones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 as a Way of Life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Wellbeing embedded in everyday routines — not a program to opt into, but the default rhythm of the day.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Community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Connection and shared experiences built into the life of the place. People, not just property.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Regenerative Environment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Nature and sustainability shaping daily life. The land as active system, not decoration.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as One System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8056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Health, people, and environment working together — engineered to reinforce each other.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· INTEGRATED LIVING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LIVING · CORE INFRASTRUCTURE &amp; COLLATERAL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activations, assets and executions that bring this campaign to life.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· COPY · IMAGES · DESIGN · LAUNCH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284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Asset Library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· CATEGORISATION · AI REFINEMENT · LAUNCH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895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696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714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62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7365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4974336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38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29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 Quarterly Newsletter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3035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60520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17720" y="2761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Vananda Adventure Book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17720" y="30358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60520" y="3273552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17720" y="33284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Logo Signage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17720" y="360273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60520" y="3840480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17720" y="3895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Handover Box + Key Holders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17720" y="41696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EXPERIENCE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60520" y="4407408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0520" y="44714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17720" y="4462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· Pen · Fabric Tote Bag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617720" y="47365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GIFTING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60520" y="4974336"/>
            <a:ext cx="333756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5038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17720" y="5029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— Media Stay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617720" y="53035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EDITORIAL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863840" y="2743200"/>
            <a:ext cx="384048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183880" y="3977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Flat-lay of brand collateral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tote, handover box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warm paper surface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LEGACY LIVING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777240"/>
            <a:ext cx="6035040" cy="5532120"/>
          </a:xfrm>
          <a:prstGeom prst="rect">
            <a:avLst/>
          </a:prstGeom>
          <a:solidFill>
            <a:srgbClr val="2E4235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30861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generations together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grandparent, parent, child,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 moment, dappled light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5943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Living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Tycoon with Family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NARRATIVE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9D6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place where life is designed to unfold over time — where family, health, and environment quietly shape what comes next."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LEGACY LIVING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LIVING · BUSINESS TYCOON WITH FAMILY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themes we build the campaign's content and stories around.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743200"/>
            <a:ext cx="320040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823960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Father and son walking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along a forest path — documentary,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light, not posed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Over Time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Wellbeing as part of daily life, not a program to attend. Prevention built into the everyday.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Together, Naturally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Spaces that bring generations closer without effort — architecture doing the work of connection.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Upbringing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Nature, rhythm, and environment shaping how children grow. A childhood measured differently.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Continuity, Not Change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8056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home that evolves with the family — an asset, a constant, a place to come back 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LEGACY LIVING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LIVING · BUSINESS TYCOON WITH FAMILY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activations, assets and executions that bring this campaign to life.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Campaign — Meta + Business Verification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· TARGETING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284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Long-Stay Villa Rentals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EXPERIENCE-TO-OWNERSHIP PATHWAY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863840" y="2743200"/>
            <a:ext cx="384048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183880" y="3977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 interior at dusk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lamplight, family gathered,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place that feels lived 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THE LIFE ALREADY HERE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777240"/>
            <a:ext cx="6035040" cy="5532120"/>
          </a:xfrm>
          <a:prstGeom prst="rect">
            <a:avLst/>
          </a:prstGeom>
          <a:solidFill>
            <a:srgbClr val="2E4235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30861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 moment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bare feet on wooden steps,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air, morning stillness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5943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Life Already Here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Buyer with Thailand Partner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NARRATIVE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9D6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arrive, and something shifts — the pace, the feeling, the way time moves. From there, the decision becomes simple."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THE LIFE ALREADY HERE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ALREADY HERE · IMPULSE BUYER + TH PARTNER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themes we build the campaign's content and stories around.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743200"/>
            <a:ext cx="320040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823960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on the villa terrace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fruit, soft morning light,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staging, just ease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Effortless Access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Proximity, ease of arrival, frictionless entry into the lifestyle. Phuket airport 15 minutes away.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Ready-to-Live Environment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Fully prepared homes. No setup, no waiting. You walk in and the life is already there.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Everyday Enjoyment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Food, nature, movement, social life — already in place. The pleasures are ambient, not scheduled.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Without Complexity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8056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Experience first, ownership follows naturally. Living convinces better than selling.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THE LIFE ALREADY HERE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ALREADY HERE · IMPULSE BUYER + TH PARTNER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activations, assets and executions that bring this campaign to life.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 Campaign — New Video 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· PAID MEDIA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284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Roots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BANGKOK-BASED ACTIVATION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8953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/ Nature Campaign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6966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PARTNERSHIP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714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62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Harmony 10 Campaign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73659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· COMMUNITY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863840" y="2743200"/>
            <a:ext cx="384048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183880" y="3977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 still — a person walking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tall grass, sunlight,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 and quiet at once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FROM STAY TO BELONGING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777240"/>
            <a:ext cx="6035040" cy="5532120"/>
          </a:xfrm>
          <a:prstGeom prst="rect">
            <a:avLst/>
          </a:prstGeom>
          <a:solidFill>
            <a:srgbClr val="2E4235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30861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Returning guest moment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 receiving a cup of tea,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 warmth, unspoken care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5943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Stay to Belonging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Trisara Guests Lookalike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NARRATIVE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9D6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you've experienced before becomes something you can return to — this time, as part of your life."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FROM STAY TO BELONGING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STAY TO BELONGING · TRISARA LOOKALIKES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themes we build the campaign's content and stories around.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743200"/>
            <a:ext cx="320040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823960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Pool-edge at golden hour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 luxury, quiet hospitality,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place you've felt before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 Feeling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same sense of care, space, and calm guests already know from Trisara — extended into daily living.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Deeper Stay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temporary escape to something more permanent. Stay becomes rhythm. Rhythm becomes home.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Environment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Standards you already know, extended into ownership. The relationship is already built.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Natural Step Forward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8056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framed as continuation, not a separate decision. You're not starting — you're continuing.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FROM STAY TO BELONGING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STAY TO BELONGING · TRISARA LOOKALIKES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activations, assets and executions that bring this campaign to life.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 Campaign — Landing 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· LOOKALIKE TARGETING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284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Event — Trisara Villa 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· REAL ESTATE PARTNERS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8953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Roots Pop-Up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6966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TRISARA GUEST ACTIVATION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714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62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Long-Stay Villa Rentals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73659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EXPERIENCE-TO-OWNERSHIP PATHWAY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863840" y="2743200"/>
            <a:ext cx="384048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183880" y="3977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Trisara Villa 12 interior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event setup, curated table,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tropical evening light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LIVING LONGEVITY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777240"/>
            <a:ext cx="6035040" cy="5532120"/>
          </a:xfrm>
          <a:prstGeom prst="rect">
            <a:avLst/>
          </a:prstGeom>
          <a:solidFill>
            <a:srgbClr val="2E4235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30861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morning movement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stretching at lake's edge,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light, mist rising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5943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Longevity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La Prairie Guests Lookalike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NARRATIVE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9D6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place where wellbeing is not something you visit for — but something you live with, every day."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LIVING LONGEVITY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LONGEVITY · CLINIQUE LA PRAIRIE LOOKALIKES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themes we build the campaign's content and stories around.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743200"/>
            <a:ext cx="320040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823960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produce from the farm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turmeric, herbs, lemongrass,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as daily medicine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Preventive Living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addressed before it becomes a problem. Longevity as infrastructure, not intervention.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Approach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Environment, routine, and expertise working together — the property itself supporting the protocol.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Wellbeing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your health over time. Data and feeling, held together.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Longevity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8056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Small, consistent shifts that compound. The clinic visit made into a way of living.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LIVING LONGEVITY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LONGEVITY · CLINIQUE LA PRAIRIE LOOKALIKES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activations, assets and executions that bring this campaign to life.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 Campaign — Landing 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· LOOKALIKE TARGETING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284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Resort Launch Leverage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CROSS-BRAND MOMENT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8953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Long-Stay Villa Rentals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6966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EXPERIENCE-TO-OWNERSHIP PATHWAY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63840" y="2743200"/>
            <a:ext cx="384048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183880" y="3977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Clinic-meets-home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 practitioner and guest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daylight, calm, considered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A LIVING PROOF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777240"/>
            <a:ext cx="6035040" cy="5532120"/>
          </a:xfrm>
          <a:prstGeom prst="rect">
            <a:avLst/>
          </a:prstGeom>
          <a:solidFill>
            <a:srgbClr val="2E4235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30861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Aerial / wide systemic shot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232-acre land,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 of regeneration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5943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Proof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Wellness Summit Audience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NARRATIVE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9D6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 a concept, but a working model — where wellness, community, and environment are designed as one living system, to be experienced, studied, and scaled."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A LIVING PROOF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PROOF · GLOBAL WELLNESS SUMMIT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themes we build the campaign's content and stories around.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743200"/>
            <a:ext cx="320040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823960" y="3977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or convening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practitioners in dialogue,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light, working session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System-Level Thinking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Wellness integrated into environment, behaviour, and time. A property that works as an operating system for wellbeing.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Longevity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35844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Translating clinical insight into everyday living. Science made habitable.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Regenerative Development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Sustainability as an active, measurable system. Net-zero as baseline, not headline.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as Infrastructure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80560" y="5413248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5486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Connection intentionally designed into daily life. People as engineered outcome, not accident.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A LIVING PROOF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C5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PROOF · GLOBAL WELLNESS SUMMIT AUDIENCE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activations, assets and executions that bring this campaign to life.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 Campaign — Landing 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· THOUGHT-LEADERSHIP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284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BEING 2026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TENTPOLE MOMENT · CONVENING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8953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Montara New Wellness Brand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6966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[INTERNAL — UNANNOUNCED]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714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62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 Farm Festival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73659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EVENT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4974336"/>
            <a:ext cx="7040880" cy="0"/>
          </a:xfrm>
          <a:prstGeom prst="line">
            <a:avLst/>
          </a:prstGeom>
          <a:noFill/>
          <a:ln w="3810">
            <a:solidFill>
              <a:srgbClr val="C7C3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38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29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Vananda Activations — GWS Week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30352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IN-SUMMIT PROGRAMMING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863840" y="2743200"/>
            <a:ext cx="3840480" cy="3383280"/>
          </a:xfrm>
          <a:prstGeom prst="rect">
            <a:avLst/>
          </a:prstGeom>
          <a:solidFill>
            <a:srgbClr val="D9D6CB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183880" y="3977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Being 2026 or GWS activation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practitioners, audience, stage,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generous natural setting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5760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INTEGRATION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six campaigns work together as one marketing architecture.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0"/>
          </a:xfrm>
          <a:prstGeom prst="line">
            <a:avLst/>
          </a:prstGeom>
          <a:noFill/>
          <a:ln w="6350">
            <a:solidFill>
              <a:srgbClr val="C7C3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3515258" cy="3200400"/>
          </a:xfrm>
          <a:prstGeom prst="rect">
            <a:avLst/>
          </a:prstGeom>
          <a:solidFill>
            <a:srgbClr val="EDEBE9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3515258" cy="73152"/>
          </a:xfrm>
          <a:prstGeom prst="rect">
            <a:avLst/>
          </a:prstGeom>
          <a:solidFill>
            <a:srgbClr val="233F2F"/>
          </a:solidFill>
          <a:ln w="12700">
            <a:solidFill>
              <a:srgbClr val="233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0400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C0 · Integrated Living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master story. Always-on infrastructure — website, social, EDM, PR, collateral, asset library. Everything else flows through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8218" y="2926080"/>
            <a:ext cx="3515258" cy="3200400"/>
          </a:xfrm>
          <a:prstGeom prst="rect">
            <a:avLst/>
          </a:prstGeom>
          <a:solidFill>
            <a:srgbClr val="EDEBE9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2926080"/>
            <a:ext cx="3515258" cy="73152"/>
          </a:xfrm>
          <a:prstGeom prst="rect">
            <a:avLst/>
          </a:prstGeom>
          <a:solidFill>
            <a:srgbClr val="233F2F"/>
          </a:solidFill>
          <a:ln w="12700">
            <a:solidFill>
              <a:srgbClr val="233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3978" y="3200400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233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Audience Campaigns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3978" y="356616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· C2 · C3 · C4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03978" y="4480560"/>
            <a:ext cx="548640" cy="0"/>
          </a:xfrm>
          <a:prstGeom prst="line">
            <a:avLst/>
          </a:prstGeom>
          <a:noFill/>
          <a:ln w="15240">
            <a:solidFill>
              <a:srgbClr val="233F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3978" y="461772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audience-specific campaigns, each with paid digital, tailored landing pages, and a dedicated route into the lifestyle.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19237" y="2926080"/>
            <a:ext cx="3515258" cy="3200400"/>
          </a:xfrm>
          <a:prstGeom prst="rect">
            <a:avLst/>
          </a:prstGeom>
          <a:solidFill>
            <a:srgbClr val="EDEBE9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9237" y="2926080"/>
            <a:ext cx="3515258" cy="73152"/>
          </a:xfrm>
          <a:prstGeom prst="rect">
            <a:avLst/>
          </a:prstGeom>
          <a:solidFill>
            <a:srgbClr val="CF554E"/>
          </a:solidFill>
          <a:ln w="12700">
            <a:solidFill>
              <a:srgbClr val="CF55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84997" y="3200400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F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Cultural Proof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84997" y="356616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233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 · A Living Proof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584997" y="4480560"/>
            <a:ext cx="548640" cy="0"/>
          </a:xfrm>
          <a:prstGeom prst="line">
            <a:avLst/>
          </a:prstGeom>
          <a:noFill/>
          <a:ln w="15240">
            <a:solidFill>
              <a:srgbClr val="CF55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84997" y="461772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5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credibility layer. BEING 2026, GWS activations, and industry-facing moments that turn the property into proof.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VANANDA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·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448495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029200" cy="4846320"/>
          </a:xfrm>
          <a:prstGeom prst="rect">
            <a:avLst/>
          </a:prstGeom>
          <a:solidFill>
            <a:srgbClr val="2E4235"/>
          </a:solidFill>
          <a:ln w="6350">
            <a:solidFill>
              <a:srgbClr val="C7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0" kern="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image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wide, quiet, multigenerational.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on a bridge in forest.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5577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CF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BELONG · BLOOM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600200"/>
            <a:ext cx="1828800" cy="0"/>
          </a:xfrm>
          <a:prstGeom prst="line">
            <a:avLst/>
          </a:prstGeom>
          <a:noFill/>
          <a:ln w="19050">
            <a:solidFill>
              <a:srgbClr val="CF55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place where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76072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wellness, community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76072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sustainability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760720" y="3886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F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together as one.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5760720" y="5029200"/>
            <a:ext cx="5943600" cy="0"/>
          </a:xfrm>
          <a:prstGeom prst="line">
            <a:avLst/>
          </a:prstGeom>
          <a:noFill/>
          <a:ln w="6350">
            <a:solidFill>
              <a:srgbClr val="3B5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5212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BA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54864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9D6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Align on campaign prioritisation. Brief creative and media partners. Confirm Q1 2026 production plan.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 Vananda — Marketing Campaigns 2026</dc:title>
  <dc:subject>PptxGenJS Presentation</dc:subject>
  <dc:creator>Tri Vananda</dc:creator>
  <cp:lastModifiedBy>Tri Vananda</cp:lastModifiedBy>
  <cp:revision>1</cp:revision>
  <dcterms:created xsi:type="dcterms:W3CDTF">2026-04-21T10:07:54Z</dcterms:created>
  <dcterms:modified xsi:type="dcterms:W3CDTF">2026-04-21T10:07:54Z</dcterms:modified>
</cp:coreProperties>
</file>